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7900ffcad445f8" /><Relationship Type="http://schemas.openxmlformats.org/officeDocument/2006/relationships/extended-properties" Target="/docProps/app.xml" Id="R247a6fd323af4917" /><Relationship Type="http://schemas.openxmlformats.org/officeDocument/2006/relationships/officeDocument" Target="/ppt/presentation.xml" Id="R654fa83c5b964a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2fc2001bba4920"/>
  </p:sldMasterIdLst>
  <p:notesMasterIdLst>
    <p:notesMasterId xmlns:r="http://schemas.openxmlformats.org/officeDocument/2006/relationships" r:id="R1f794f9eb6ce4326"/>
  </p:notesMasterIdLst>
  <p:sldIdLst>
    <p:sldId xmlns:r="http://schemas.openxmlformats.org/officeDocument/2006/relationships" id="256" r:id="Rae8d23c1173a4462"/>
    <p:sldId xmlns:r="http://schemas.openxmlformats.org/officeDocument/2006/relationships" id="257" r:id="R2b543c37a6214799"/>
    <p:sldId xmlns:r="http://schemas.openxmlformats.org/officeDocument/2006/relationships" id="258" r:id="R0ce68a8290024306"/>
    <p:sldId xmlns:r="http://schemas.openxmlformats.org/officeDocument/2006/relationships" id="259" r:id="Rf120ea9c8c8a4047"/>
    <p:sldId xmlns:r="http://schemas.openxmlformats.org/officeDocument/2006/relationships" id="260" r:id="Rea3e25d28e0a42c2"/>
    <p:sldId xmlns:r="http://schemas.openxmlformats.org/officeDocument/2006/relationships" id="261" r:id="Raae3323aae054e73"/>
    <p:sldId xmlns:r="http://schemas.openxmlformats.org/officeDocument/2006/relationships" id="262" r:id="R6be460910e0c4f84"/>
    <p:sldId xmlns:r="http://schemas.openxmlformats.org/officeDocument/2006/relationships" id="263" r:id="Rc77297016bb74789"/>
    <p:sldId xmlns:r="http://schemas.openxmlformats.org/officeDocument/2006/relationships" id="264" r:id="R4824ade1b9164aaf"/>
    <p:sldId xmlns:r="http://schemas.openxmlformats.org/officeDocument/2006/relationships" id="265" r:id="R7d69dbf2e275459c"/>
    <p:sldId xmlns:r="http://schemas.openxmlformats.org/officeDocument/2006/relationships" id="266" r:id="Ra03247899c10456d"/>
    <p:sldId xmlns:r="http://schemas.openxmlformats.org/officeDocument/2006/relationships" id="267" r:id="Re8be3b27ce044a71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c597e06d754be6" /><Relationship Type="http://schemas.openxmlformats.org/officeDocument/2006/relationships/slideMaster" Target="/ppt/slideMasters/slideMaster1.xml" Id="R2e2fc2001bba4920" /><Relationship Type="http://schemas.openxmlformats.org/officeDocument/2006/relationships/notesMaster" Target="/ppt/notesMasters/notesMaster1.xml" Id="R1f794f9eb6ce4326" /><Relationship Type="http://schemas.openxmlformats.org/officeDocument/2006/relationships/presProps" Target="/ppt/presProps.xml" Id="Rb2c6f0c5d41441aa" /><Relationship Type="http://schemas.openxmlformats.org/officeDocument/2006/relationships/tableStyles" Target="/ppt/tableStyles.xml" Id="R3705ddfa3f40459b" /><Relationship Type="http://schemas.openxmlformats.org/officeDocument/2006/relationships/slide" Target="/ppt/slides/slide1.xml" Id="Rae8d23c1173a4462" /><Relationship Type="http://schemas.openxmlformats.org/officeDocument/2006/relationships/slide" Target="/ppt/slides/slide2.xml" Id="R2b543c37a6214799" /><Relationship Type="http://schemas.openxmlformats.org/officeDocument/2006/relationships/slide" Target="/ppt/slides/slide3.xml" Id="R0ce68a8290024306" /><Relationship Type="http://schemas.openxmlformats.org/officeDocument/2006/relationships/slide" Target="/ppt/slides/slide4.xml" Id="Rf120ea9c8c8a4047" /><Relationship Type="http://schemas.openxmlformats.org/officeDocument/2006/relationships/slide" Target="/ppt/slides/slide5.xml" Id="Rea3e25d28e0a42c2" /><Relationship Type="http://schemas.openxmlformats.org/officeDocument/2006/relationships/slide" Target="/ppt/slides/slide6.xml" Id="Raae3323aae054e73" /><Relationship Type="http://schemas.openxmlformats.org/officeDocument/2006/relationships/slide" Target="/ppt/slides/slide7.xml" Id="R6be460910e0c4f84" /><Relationship Type="http://schemas.openxmlformats.org/officeDocument/2006/relationships/slide" Target="/ppt/slides/slide8.xml" Id="Rc77297016bb74789" /><Relationship Type="http://schemas.openxmlformats.org/officeDocument/2006/relationships/slide" Target="/ppt/slides/slide9.xml" Id="R4824ade1b9164aaf" /><Relationship Type="http://schemas.openxmlformats.org/officeDocument/2006/relationships/slide" Target="/ppt/slides/slide10.xml" Id="R7d69dbf2e275459c" /><Relationship Type="http://schemas.openxmlformats.org/officeDocument/2006/relationships/slide" Target="/ppt/slides/slide11.xml" Id="Ra03247899c10456d" /><Relationship Type="http://schemas.openxmlformats.org/officeDocument/2006/relationships/slide" Target="/ppt/slides/slide12.xml" Id="Re8be3b27ce044a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2f2c0989864f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af36d50cd1486c" /><Relationship Type="http://schemas.openxmlformats.org/officeDocument/2006/relationships/notesMaster" Target="/ppt/notesMasters/notesMaster1.xml" Id="Rfac58173ea6849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c13e5462b04036" /><Relationship Type="http://schemas.openxmlformats.org/officeDocument/2006/relationships/notesMaster" Target="/ppt/notesMasters/notesMaster1.xml" Id="Rc631bf222d7345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0aa56e23cc485f" /><Relationship Type="http://schemas.openxmlformats.org/officeDocument/2006/relationships/notesMaster" Target="/ppt/notesMasters/notesMaster1.xml" Id="R0385dde956be42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b1249bef33413b" /><Relationship Type="http://schemas.openxmlformats.org/officeDocument/2006/relationships/notesMaster" Target="/ppt/notesMasters/notesMaster1.xml" Id="R68c798266ac245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07f0d82950473f" /><Relationship Type="http://schemas.openxmlformats.org/officeDocument/2006/relationships/notesMaster" Target="/ppt/notesMasters/notesMaster1.xml" Id="R4b2735b416db48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bd85c31cbd414c" /><Relationship Type="http://schemas.openxmlformats.org/officeDocument/2006/relationships/notesMaster" Target="/ppt/notesMasters/notesMaster1.xml" Id="Rf393e10eed8c48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2ecda6d5e64477" /><Relationship Type="http://schemas.openxmlformats.org/officeDocument/2006/relationships/notesMaster" Target="/ppt/notesMasters/notesMaster1.xml" Id="R99c63c6db0cc4c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f22f074077439f" /><Relationship Type="http://schemas.openxmlformats.org/officeDocument/2006/relationships/notesMaster" Target="/ppt/notesMasters/notesMaster1.xml" Id="R577cb1ba76174e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8b81161c6b450a" /><Relationship Type="http://schemas.openxmlformats.org/officeDocument/2006/relationships/notesMaster" Target="/ppt/notesMasters/notesMaster1.xml" Id="Rdfe32df09fdf44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52b114c1674f51" /><Relationship Type="http://schemas.openxmlformats.org/officeDocument/2006/relationships/notesMaster" Target="/ppt/notesMasters/notesMaster1.xml" Id="R13b247a18b8943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9fb46b5208412c" /><Relationship Type="http://schemas.openxmlformats.org/officeDocument/2006/relationships/notesMaster" Target="/ppt/notesMasters/notesMaster1.xml" Id="R85f1899816b843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caec0d12534393" /><Relationship Type="http://schemas.openxmlformats.org/officeDocument/2006/relationships/notesMaster" Target="/ppt/notesMasters/notesMaster1.xml" Id="R1e066821518a40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Presentación de 12–15 minutos. Reparto sugerido, pendiente de ensayo del equipo. Las propuestas P04–P12 son borradores asistidos por IA para validación.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presentación contiene solo Sismos. El tiempo total de 12–15 minutos que pide la consigna también incluye el proyecto propio, ahora separado en BD-Proyecto-Musica. Repartir las propuestas después de confirmar el equipo y validar sus borradores.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fork Samuel-Hdzx07/Seismic-Data-Visualization-System, commit 8569667cf4f46fab640dba3f82a7b324ca7efaf7. DDL sql/00-datawarehouse_tables.sql. Artículo Cuando México tiembla, DOI 10.24275/AZC2026E1004.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histórica del levantamiento documentado el 26/09/2026, no una ejecución nueva. SELECT * FROM dim_sismos LIMIT 5. Explicar magnitud, coordenadas, profundidad y estado. La consulta se repitió el 18/10/2026 y confirmó 319592 filas totales. Ver levantamiento.md y el registro actual. La imagen mostrada sigue siendo la captura histórica.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real del 18/10/2026. El filtro pasó de 21 eventos con magnitud mínima 5 a 3 con magnitud mínima 6. La base respondió con 319592 filas en dim_sismos. Comandos reales en capturas/ejecucion-2026-10-18.txt. Sigue pendiente una captura auténtica del arranque en terminal. Los indicadores de población son resultados de la aplicación y no equivalen a personas damnificadas observadas.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SISMO, ENTIDAD_FEDERATIVA, CENSO_POBLACION y CENSO_ECONOMICO. Los censos son entidades débiles: entidad propietaria y año censal identifican cada registro. Fuente: proyecto-asignado/eer.png y correspondencia-con-el-esquema.pdf.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Contraste con DDL del commit 8569667cf4f46fab640dba3f82a7b324ca7efaf7. No presentar el esquema estrella como si fuera el modelo conceptual. El PDF de correspondencia contiene el análisis completo.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P01 Réplicas y secuencias sísmicas</a:t>
            </a:r>
          </a:p>
          <a:p xmlns:a="http://schemas.openxmlformats.org/drawingml/2006/main">
            <a:r>
              <a:t>Estado: Registrada / issue #2</a:t>
            </a:r>
          </a:p>
          <a:p xmlns:a="http://schemas.openxmlformats.org/drawingml/2006/main">
            <a:r>
              <a:t>Necesidad: El modelo actual representa los sismos como eventos aislados y no conserva qué evento se considera réplica de otro.</a:t>
            </a:r>
          </a:p>
          <a:p xmlns:a="http://schemas.openxmlformats.org/drawingml/2006/main">
            <a:r>
              <a:t>Función: Un analista selecciona un sismo principal y consulta sus réplicas, distancias e intervalos. La ventana temporal y el radio de búsqueda son configurables.</a:t>
            </a:r>
          </a:p>
          <a:p xmlns:a="http://schemas.openxmlformats.org/drawingml/2006/main">
            <a:r>
              <a:t>Modelo: Relación recursiva ES_REPLICA_DE sobre SISMO: principal (0,N), réplica (0,1). intervalo_horas y distancia_km son derivados. El criterio de asignación debe documentarse como una regla operativa, no como una clasificación sismológica definitiva.</a:t>
            </a:r>
          </a:p>
          <a:p xmlns:a="http://schemas.openxmlformats.org/drawingml/2006/main">
            <a:r>
              <a:t>Sustento: Propuesta existente en el issue #2 y en el documento original. Atiende la necesidad identificada al contrastar los usos del artículo con el modelo.</a:t>
            </a:r>
          </a:p>
          <a:p xmlns:a="http://schemas.openxmlformats.org/drawingml/2006/main">
            <a:r>
              <a:t>Dificultad: Media: comparar eventos por tiempo, distancia y magnitud, resolver candidatos y validar el resultado.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P02 Placas tectónicas como contexto</a:t>
            </a:r>
          </a:p>
          <a:p xmlns:a="http://schemas.openxmlformats.org/drawingml/2006/main">
            <a:r>
              <a:t>Estado: Registrada / issue #3</a:t>
            </a:r>
          </a:p>
          <a:p xmlns:a="http://schemas.openxmlformats.org/drawingml/2006/main">
            <a:r>
              <a:t>Necesidad: El catálogo no conserva la placa asociada al epicentro ni el contexto de sus límites.</a:t>
            </a:r>
          </a:p>
          <a:p xmlns:a="http://schemas.openxmlformats.org/drawingml/2006/main">
            <a:r>
              <a:t>Función: Un usuario consulta eventos por placa y compara magnitudes y profundidades por región tectónica.</a:t>
            </a:r>
          </a:p>
          <a:p xmlns:a="http://schemas.openxmlformats.org/drawingml/2006/main">
            <a:r>
              <a:t>Modelo: PLACA_TECTONICA con identificador, nombre y geometría; SISMO (0,1) - OCURRE_EN - PLACA_TECTONICA (0,N). INTERACTUA_CON relaciona placas y guarda tipo_limite.</a:t>
            </a:r>
          </a:p>
          <a:p xmlns:a="http://schemas.openxmlformats.org/drawingml/2006/main">
            <a:r>
              <a:t>Sustento: Propuesta existente en el issue #3. La figura de placas del artículo y la necesidad de incorporar fuentes adicionales motivan la ampliación.</a:t>
            </a:r>
          </a:p>
          <a:p xmlns:a="http://schemas.openxmlformats.org/drawingml/2006/main">
            <a:r>
              <a:t>Dificultad: Media: obtener una fuente geográfica adecuada, documentar su precisión y resolver puntos cercanos a fronteras.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P03 Municipios y localidades expuestas</a:t>
            </a:r>
          </a:p>
          <a:p xmlns:a="http://schemas.openxmlformats.org/drawingml/2006/main">
            <a:r>
              <a:t>Estado: Registrada / issue #4</a:t>
            </a:r>
          </a:p>
          <a:p xmlns:a="http://schemas.openxmlformats.org/drawingml/2006/main">
            <a:r>
              <a:t>Necesidad: La información territorial disponible se agrega por entidad federativa y no permite distinguir localidades cercanas a un epicentro.</a:t>
            </a:r>
          </a:p>
          <a:p xmlns:a="http://schemas.openxmlformats.org/drawingml/2006/main">
            <a:r>
              <a:t>Función: Protección civil consulta localidades dentro de un radio, con población y distancia, agrupadas por municipio.</a:t>
            </a:r>
          </a:p>
          <a:p xmlns:a="http://schemas.openxmlformats.org/drawingml/2006/main">
            <a:r>
              <a:t>Modelo: MUNICIPIO depende de ENTIDAD_FEDERATIVA y LOCALIDAD de MUNICIPIO. EXPUESTA_A relaciona SISMO y LOCALIDAD en M:N; distancia_epicentro_km es derivada.</a:t>
            </a:r>
          </a:p>
          <a:p xmlns:a="http://schemas.openxmlformats.org/drawingml/2006/main">
            <a:r>
              <a:t>Sustento: Issue #4 y hallazgo comprobable en el DDL: dim_zonas solo contiene atributos de entidad y población agregada.</a:t>
            </a:r>
          </a:p>
          <a:p xmlns:a="http://schemas.openxmlformats.org/drawingml/2006/main">
            <a:r>
              <a:t>Dificultad: Alta: cargar un catálogo territorial más detallado y controlar el volumen de relaciones sismo-localidad.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P04 Identidad territorial consistente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 entidad federativa se repite con nombres y tipos distintos en las dimensiones, sin un catálogo común que resuelva equivalencias.</a:t>
            </a:r>
          </a:p>
          <a:p xmlns:a="http://schemas.openxmlformats.org/drawingml/2006/main">
            <a:r>
              <a:t>Función: El analista selecciona una entidad una sola vez y obtiene sismos, población y economía asociados a la misma identidad territorial.</a:t>
            </a:r>
          </a:p>
          <a:p xmlns:a="http://schemas.openxmlformats.org/drawingml/2006/main">
            <a:r>
              <a:t>Modelo: Conservar ENTIDAD_FEDERATIVA como identidad común y agregar IDENTIFICADOR_TERRITORIAL (fuente, código, vigencia). Normalizar las referencias desde sismos y censos mediante un mapeo verificable de códigos.</a:t>
            </a:r>
          </a:p>
          <a:p xmlns:a="http://schemas.openxmlformats.org/drawingml/2006/main">
            <a:r>
              <a:t>Sustento: Hallazgo en el DDL: estado es VARCHAR, entidad de zonas es INT y entidad de economía es DOUBLE PRECISION. Desarrolla la idea de catálogo único que aparecía en la presentación anterior.</a:t>
            </a:r>
          </a:p>
          <a:p xmlns:a="http://schemas.openxmlformats.org/drawingml/2006/main">
            <a:r>
              <a:t>Dificultad: Media: depurar equivalencias y migrar referencias sin confundir abreviaturas con claves oficiales.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P05 Ediciones censales comparables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Las dimensiones publicadas no conservan anio_censo; una actualización puede impedir distinguir mediciones de distintas ediciones.</a:t>
            </a:r>
          </a:p>
          <a:p xmlns:a="http://schemas.openxmlformats.org/drawingml/2006/main">
            <a:r>
              <a:t>Función: El usuario elige la edición censal y compara indicadores de una entidad entre periodos sin sobrescribir observaciones anteriores.</a:t>
            </a:r>
          </a:p>
          <a:p xmlns:a="http://schemas.openxmlformats.org/drawingml/2006/main">
            <a:r>
              <a:t>Modelo: Agregar EDICION_CENSAL (identificador, año, fuente, fecha de referencia) y vincular CENSO_POBLACION y CENSO_ECONOMICO a su edición. La combinación entidad-edición identifica cada observación censal.</a:t>
            </a:r>
          </a:p>
          <a:p xmlns:a="http://schemas.openxmlformats.org/drawingml/2006/main">
            <a:r>
              <a:t>Sustento: Ausencia de anio_censo en dim_zonas y dim_economia. El EER ya reconoce el año; la propuesta añade metadatos de edición y evita perderlo en el almacén.</a:t>
            </a:r>
          </a:p>
          <a:p xmlns:a="http://schemas.openxmlformats.org/drawingml/2006/main">
            <a:r>
              <a:t>Dificultad: Media: definir el grano, conservar ediciones y hacer explícita la edición usada por cada consulta de impacto.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P06 Trazabilidad de valores imputados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nombre de la tabla de hechos indica imputación, pero su DDL no registra qué campo se estimó ni cómo se obtuvo el resultado.</a:t>
            </a:r>
          </a:p>
          <a:p xmlns:a="http://schemas.openxmlformats.org/drawingml/2006/main">
            <a:r>
              <a:t>Función: El analista distingue valores observados e imputados y consulta método, fecha y valor original antes de usar un indicador.</a:t>
            </a:r>
          </a:p>
          <a:p xmlns:a="http://schemas.openxmlformats.org/drawingml/2006/main">
            <a:r>
              <a:t>Modelo: Agregar REGISTRO_IMPUTACION relacionado con una ocurrencia de IMPACTA mediante agregación. Registrar campo, valor original, valor obtenido, método y versión, fecha y medida de confianza solo cuando el método la produzca.</a:t>
            </a:r>
          </a:p>
          <a:p xmlns:a="http://schemas.openxmlformats.org/drawingml/2006/main">
            <a:r>
              <a:t>Sustento: Hallazgo en fact_impacto_sismos_imputed: no hay columnas de procedencia de imputación. Desarrolla la propuesta de trazabilidad incluida en la presentación anterior.</a:t>
            </a:r>
          </a:p>
          <a:p xmlns:a="http://schemas.openxmlformats.org/drawingml/2006/main">
            <a:r>
              <a:t>Dificultad: Alta: identificar cada observación de impacto y registrar resultados reproducibles sin atribuir una confianza que no se haya calculado.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P07 Procedencia y lotes de carga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modelo no permite determinar con qué archivo o actualización se incorporó un registro al sistema.</a:t>
            </a:r>
          </a:p>
          <a:p xmlns:a="http://schemas.openxmlformats.org/drawingml/2006/main">
            <a:r>
              <a:t>Función: El administrador rastrea un sismo hasta su fuente y lote, identifica la fecha de incorporación y consulta el alcance de cada carga.</a:t>
            </a:r>
          </a:p>
          <a:p xmlns:a="http://schemas.openxmlformats.org/drawingml/2006/main">
            <a:r>
              <a:t>Modelo: Agregar FUENTE_DATOS y LOTE_CARGA con referencia de archivo, hash, fechas y estado. Registrar la incorporación de SISMO a un lote. La procedencia no reemplaza el historial de correcciones manuales ni el registro de imputación.</a:t>
            </a:r>
          </a:p>
          <a:p xmlns:a="http://schemas.openxmlformats.org/drawingml/2006/main">
            <a:r>
              <a:t>Sustento: Necesidad identificada durante la revisión del DDL, que solo declara datos del dominio y carece de metadatos de carga.</a:t>
            </a:r>
          </a:p>
          <a:p xmlns:a="http://schemas.openxmlformats.org/drawingml/2006/main">
            <a:r>
              <a:t>Dificultad: Media: instrumentar el proceso de carga y definir cómo detectar duplicados y nuevas versiones de archivos.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P08 Historial de correcciones manuales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Una corrección de magnitud, coordenadas o referencia puede reemplazar información sin conservar quién la modificó y por qué.</a:t>
            </a:r>
          </a:p>
          <a:p xmlns:a="http://schemas.openxmlformats.org/drawingml/2006/main">
            <a:r>
              <a:t>Función: Una persona autorizada corrige un registro y el equipo puede consultar la secuencia de cambios y su justificación.</a:t>
            </a:r>
          </a:p>
          <a:p xmlns:a="http://schemas.openxmlformats.org/drawingml/2006/main">
            <a:r>
              <a:t>Modelo: Agregar REVISION_DATO con campo, valor anterior, valor nuevo, motivo, instante y editor; relacionarla con SISMO. Se documentan cambios manuales, separados de la estimación automática de datos faltantes.</a:t>
            </a:r>
          </a:p>
          <a:p xmlns:a="http://schemas.openxmlformats.org/drawingml/2006/main">
            <a:r>
              <a:t>Sustento: Necesidad identificada en el análisis de integridad: el esquema no contiene una bitácora de modificaciones del catálogo.</a:t>
            </a:r>
          </a:p>
          <a:p xmlns:a="http://schemas.openxmlformats.org/drawingml/2006/main">
            <a:r>
              <a:t>Dificultad: Media: identificar editores y registrar cambios de forma transaccional, conservando la referencia al registro afectado.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P09 Evaluación de calidad de registros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No se conservan resultados de validación que permitan distinguir registros completos, sospechosos y rechazados antes del análisis.</a:t>
            </a:r>
          </a:p>
          <a:p xmlns:a="http://schemas.openxmlformats.org/drawingml/2006/main">
            <a:r>
              <a:t>Función: El equipo filtra incidencias por regla o lote y conoce qué datos requieren revisión antes de generar reportes.</a:t>
            </a:r>
          </a:p>
          <a:p xmlns:a="http://schemas.openxmlformats.org/drawingml/2006/main">
            <a:r>
              <a:t>Modelo: Agregar REGLA_CALIDAD y EVALUACION_CALIDAD para relacionar SISMO con regla, versión, resultado, fecha y detalle. No sustituir el valor original ni confundir una incidencia con una corrección.</a:t>
            </a:r>
          </a:p>
          <a:p xmlns:a="http://schemas.openxmlformats.org/drawingml/2006/main">
            <a:r>
              <a:t>Sustento: Hallazgo del DDL: latitud, longitud, magnitud y demás campos no tienen CHECK ni NOT NULL; la consulta histórica muestra que es importante examinar la calidad antes de interpretar valores.</a:t>
            </a:r>
          </a:p>
          <a:p xmlns:a="http://schemas.openxmlformats.org/drawingml/2006/main">
            <a:r>
              <a:t>Dificultad: Media: acordar reglas, conservar resultados y distinguir avisos de errores que realmente impiden la carga.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P10 Comparación de escenarios de impacto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hecho publicado guarda indicadores de impacto sin identificar un escenario, versión de cálculo o parámetros que expliquen diferencias entre estimaciones.</a:t>
            </a:r>
          </a:p>
          <a:p xmlns:a="http://schemas.openxmlformats.org/drawingml/2006/main">
            <a:r>
              <a:t>Función: El analista compara resultados para un mismo sismo bajo distintas ediciones censales o configuraciones, manteniendo separados los resultados calculados de los datos observados.</a:t>
            </a:r>
          </a:p>
          <a:p xmlns:a="http://schemas.openxmlformats.org/drawingml/2006/main">
            <a:r>
              <a:t>Modelo: Agregar ESCENARIO_IMPACTO y RESULTADO_ESCENARIO relacionados con SISMO y ENTIDAD_FEDERATIVA. Guardar versión de cálculo, parámetros, edición de datos, fecha e indicadores con unidades definidas.</a:t>
            </a:r>
          </a:p>
          <a:p xmlns:a="http://schemas.openxmlformats.org/drawingml/2006/main">
            <a:r>
              <a:t>Sustento: Necesidad identificada a partir de los indicadores del hecho y de la ausencia de metadatos de escenario en su DDL. No se afirma que las estimaciones sean predicciones validadas.</a:t>
            </a:r>
          </a:p>
          <a:p xmlns:a="http://schemas.openxmlformats.org/drawingml/2006/main">
            <a:r>
              <a:t>Dificultad: Alta: definir una metodología reproducible y comparar únicamente resultados de grano y unidades compatibles.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P11 Observaciones por estación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catálogo describe epicentros, pero no conserva mediciones instrumentales asociadas a una estación y a un evento.</a:t>
            </a:r>
          </a:p>
          <a:p xmlns:a="http://schemas.openxmlformats.org/drawingml/2006/main">
            <a:r>
              <a:t>Función: El investigador consulta estaciones que registraron un evento y examina sus mediciones con unidades y procedencia explícitas.</a:t>
            </a:r>
          </a:p>
          <a:p xmlns:a="http://schemas.openxmlformats.org/drawingml/2006/main">
            <a:r>
              <a:t>Modelo: Agregar ESTACION y OBSERVACION_INSTRUMENTAL entre SISMO y ESTACION, con instante, variable, valor, unidad y fuente. Un evento y una estación pueden tener varias observaciones.</a:t>
            </a:r>
          </a:p>
          <a:p xmlns:a="http://schemas.openxmlformats.org/drawingml/2006/main">
            <a:r>
              <a:t>Sustento: Necesidad de análisis planteada en este borrador. Requiere conseguir y evaluar una fuente de mediciones; esos datos no están en la base actual y no se inventan para la propuesta.</a:t>
            </a:r>
          </a:p>
          <a:p xmlns:a="http://schemas.openxmlformats.org/drawingml/2006/main">
            <a:r>
              <a:t>Dificultad: Alta: conseguir una fuente compatible, vincular eventos y estaciones y evitar mezclar magnitudes, intensidad y mediciones físicas diferentes.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P12 Alertas por criterios configurables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Las consultas manuales no conservan qué eventos cumplieron una regla de interés ni a quién corresponde revisar el resultado.</a:t>
            </a:r>
          </a:p>
          <a:p xmlns:a="http://schemas.openxmlformats.org/drawingml/2006/main">
            <a:r>
              <a:t>Función: Un observador configura umbrales de magnitud, profundidad o entidad y consulta un historial de coincidencias y atención. La función sirve para seguimiento del catálogo, sin presentarse como alerta temprana.</a:t>
            </a:r>
          </a:p>
          <a:p xmlns:a="http://schemas.openxmlformats.org/drawingml/2006/main">
            <a:r>
              <a:t>Modelo: Agregar OBSERVADOR, REGLA_ALERTA y ALERTA_GENERADA; vincular cada alerta con SISMO, regla y fecha de evaluación, y registrar estado de atención. No se envían mensajes reales al elaborar esta propuesta.</a:t>
            </a:r>
          </a:p>
          <a:p xmlns:a="http://schemas.openxmlformats.org/drawingml/2006/main">
            <a:r>
              <a:t>Sustento: Necesidad de seguimiento identificada a partir de las consultas de Sismos. La evaluación posterior de un registro es distinta de un sistema de aviso previo a la llegada de ondas.</a:t>
            </a:r>
          </a:p>
          <a:p xmlns:a="http://schemas.openxmlformats.org/drawingml/2006/main">
            <a:r>
              <a:t>Dificultad: Media: versionar reglas, evitar duplicados y conservar el motivo por el que un evento cumplió el criterio.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levantamiento.md, eer.png, correspondencia-con-el-esquema.pdf, propuestas/propuestas-de-mejora.pdf. Los issues #2–#4 pertenecen al repositorio anterior. No se atribuye validación de compañeros ni ejecución del cambio de Práctica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eeb449369a464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c344b672c46c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6277f563147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3f8c092be47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d37a43d74441d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474e142f9a42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8B710B-4BF0-4BDE-8259-E6FF830B4F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943100"/>
            <a:ext cx="731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B219C17-5292-4DC6-8D77-88989FE3E0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2828925"/>
            <a:ext cx="640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88B8A3-F9FF-4659-AC19-97260340BF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2143125"/>
            <a:ext cx="731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D98D23-C2C9-4C22-8154-D507DA10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C4D0F87-E392-438C-BBD8-27AC3649CB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81153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6DA3F2-0A7A-4EB5-8BAE-447C0E502C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5AA3CC-F250-472B-B918-9B481BFE48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84B090-338F-4EA1-85E5-16E113EE096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577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8FED6A-DA7A-4B6A-A2AC-5CC4A5F4B3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153F67-EEF9-4CC0-8326-6CD80FE941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2a4b0ae3594839" /><Relationship Type="http://schemas.openxmlformats.org/officeDocument/2006/relationships/slideLayout" Target="/ppt/slideLayouts/slideLayout1.xml" Id="R9869e00b0e8e47b6" /><Relationship Type="http://schemas.openxmlformats.org/officeDocument/2006/relationships/slideLayout" Target="/ppt/slideLayouts/slideLayout2.xml" Id="R09e4abb9314b4c5c" /><Relationship Type="http://schemas.openxmlformats.org/officeDocument/2006/relationships/slideLayout" Target="/ppt/slideLayouts/slideLayout3.xml" Id="R3896880c7e97437f" /><Relationship Type="http://schemas.openxmlformats.org/officeDocument/2006/relationships/slideLayout" Target="/ppt/slideLayouts/slideLayout4.xml" Id="R797d9928e348474d" /><Relationship Type="http://schemas.openxmlformats.org/officeDocument/2006/relationships/slideLayout" Target="/ppt/slideLayouts/slideLayout5.xml" Id="Rbba597a1a79a411d" /><Relationship Type="http://schemas.openxmlformats.org/officeDocument/2006/relationships/slideLayout" Target="/ppt/slideLayouts/slideLayout6.xml" Id="R889ba0ab36d243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69e00b0e8e47b6"/>
    <p:sldLayoutId xmlns:r="http://schemas.openxmlformats.org/officeDocument/2006/relationships" id="2147483650" r:id="R09e4abb9314b4c5c"/>
    <p:sldLayoutId xmlns:r="http://schemas.openxmlformats.org/officeDocument/2006/relationships" id="2147483651" r:id="R3896880c7e97437f"/>
    <p:sldLayoutId xmlns:r="http://schemas.openxmlformats.org/officeDocument/2006/relationships" id="2147483652" r:id="R797d9928e348474d"/>
    <p:sldLayoutId xmlns:r="http://schemas.openxmlformats.org/officeDocument/2006/relationships" id="2147483653" r:id="Rbba597a1a79a411d"/>
    <p:sldLayoutId xmlns:r="http://schemas.openxmlformats.org/officeDocument/2006/relationships" id="2147483654" r:id="R889ba0ab36d243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b4b289d87845ee" /><Relationship Type="http://schemas.openxmlformats.org/officeDocument/2006/relationships/notesSlide" Target="/ppt/notesSlides/notesSlide1.xml" Id="R623d717b5c4e45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eb0b20ac77444a" /><Relationship Type="http://schemas.openxmlformats.org/officeDocument/2006/relationships/notesSlide" Target="/ppt/notesSlides/notesSlide2.xml" Id="Red887311e18845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de1e221d65421b" /><Relationship Type="http://schemas.openxmlformats.org/officeDocument/2006/relationships/notesSlide" Target="/ppt/notesSlides/notesSlide3.xml" Id="Rddf116de4b434e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576d5ec0794431" /><Relationship Type="http://schemas.openxmlformats.org/officeDocument/2006/relationships/image" Target="/ppt/media/image.png" Id="Rffb6bd711d404813" /><Relationship Type="http://schemas.openxmlformats.org/officeDocument/2006/relationships/notesSlide" Target="/ppt/notesSlides/notesSlide4.xml" Id="Rad306eb1caba43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8bf2f6b33c49e2" /><Relationship Type="http://schemas.openxmlformats.org/officeDocument/2006/relationships/image" Target="/ppt/media/image.jpeg" Id="Ra5e41cc260854975" /><Relationship Type="http://schemas.openxmlformats.org/officeDocument/2006/relationships/notesSlide" Target="/ppt/notesSlides/notesSlide5.xml" Id="R50b3f5dc6eec45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ed83464fa74cae" /><Relationship Type="http://schemas.openxmlformats.org/officeDocument/2006/relationships/image" Target="/ppt/media/image2.png" Id="R818816aafeec4509" /><Relationship Type="http://schemas.openxmlformats.org/officeDocument/2006/relationships/notesSlide" Target="/ppt/notesSlides/notesSlide6.xml" Id="R40a0154b85e440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933463833f4050" /><Relationship Type="http://schemas.openxmlformats.org/officeDocument/2006/relationships/notesSlide" Target="/ppt/notesSlides/notesSlide7.xml" Id="R66b82f64f6a94a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7b0e080c4d4dd6" /><Relationship Type="http://schemas.openxmlformats.org/officeDocument/2006/relationships/notesSlide" Target="/ppt/notesSlides/notesSlide8.xml" Id="R24362893ebbc4a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f9a46732e84287" /><Relationship Type="http://schemas.openxmlformats.org/officeDocument/2006/relationships/notesSlide" Target="/ppt/notesSlides/notesSlide9.xml" Id="R2726eea929e745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b083abcd7b4a8e" /><Relationship Type="http://schemas.openxmlformats.org/officeDocument/2006/relationships/notesSlide" Target="/ppt/notesSlides/notesSlide10.xml" Id="Rf7b1ae209a2448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b1f529f91145db" /><Relationship Type="http://schemas.openxmlformats.org/officeDocument/2006/relationships/notesSlide" Target="/ppt/notesSlides/notesSlide11.xml" Id="R04e45dcc809540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6c7671a419437e" /><Relationship Type="http://schemas.openxmlformats.org/officeDocument/2006/relationships/notesSlide" Target="/ppt/notesSlides/notesSlide12.xml" Id="R1912b3755d8d4a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5A058-E25F-4772-B008-C12DEC05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577C5-D1C9-41B4-84CD-DC327A1A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Sismos: proyecto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D006F-9890-4480-A819-F755A7E3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Modelo Entidad–Relación Extendido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FB051-A3B9-493B-BB36-8885C0FD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442605-1FFA-48C8-8726-B613732D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4486D-4CE9-452B-A135-F127A8FB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085975"/>
            <a:ext cx="819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Damas Garnica Adrian</a:t>
            </a:r>
          </a:p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Esparza Ramón Fernando Adán</a:t>
            </a:r>
          </a:p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Ramos Padrón Jesus Emmanuel</a:t>
            </a:r>
          </a:p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Hernandez Barrios Samuel Rodrigo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D13319-2433-49BF-9648-2C3C2674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229100"/>
            <a:ext cx="828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Ingeniería en Sistemas Computacionales · 18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9689148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47891-CFF2-4D34-B0B1-CD0C4D16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900B5-5658-4B94-A146-A01D56C4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Contenido del bloque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22C71-D10F-4A48-9994-251AA607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Presentación independiente del proyecto de música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47534-5C0B-4317-8F85-530FC4C3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57563-DF99-4584-9796-BBC43C5A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380AB-12B1-4052-B2C4-B4E02CD3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57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Problema y datos de Sismos.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0238C-D917-43A6-A452-DFD45CA0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19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local, consulta SQL y EER conceptual.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787CC-7B06-4B7A-B734-3B49630F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381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Correspondencia del esquema y propuestas del equipo.</a:t>
            </a:r>
          </a:p>
        </p:txBody>
      </p:sp>
    </p:spTree>
    <p:extLst>
      <p:ext uri="{BB962C8B-B14F-4D97-AF65-F5344CB8AC3E}">
        <p14:creationId xmlns:p14="http://schemas.microsoft.com/office/powerpoint/2010/main" val="798188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54C82-C92C-48EB-BD9F-8A4F3352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195685-DC4B-4625-9AEF-1DD5C8FA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Sismos: del catálogo al análisis territorial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8E231-D017-434D-A7E5-09BE14B8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Proyecto asignado: Seismic Data Visualization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831C1-4EED-417C-BBD7-E5186352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CDD928-0453-4D1B-9859-BE6A9B43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CE73A-B6DA-432F-B0D3-D7F07221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478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Pregunta: ¿cómo relacionar los eventos con la población y la economía de una entidad?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4E139-5E64-40CA-9D5C-2B750B90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60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El almacén combina sismos, tiempo, zonas y economía en un hecho de impacto.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0ACAC-ECD7-47C6-974B-A0FFED61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5242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La interpretación exige conservar el grano, las unidades y la procedencia de los valores.</a:t>
            </a:r>
          </a:p>
        </p:txBody>
      </p:sp>
    </p:spTree>
    <p:extLst>
      <p:ext uri="{BB962C8B-B14F-4D97-AF65-F5344CB8AC3E}">
        <p14:creationId xmlns:p14="http://schemas.microsoft.com/office/powerpoint/2010/main" val="309241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0A7CC9-EA51-46E5-8EF5-0528FC1E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A063C-5F30-4020-8A25-150D14B7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Evidencia histórica de consulta 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8D03D-4896-44F2-AE99-5AF0D792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La captura conservada devuelve cinco filas de dim_sismos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A0269-737D-4AB7-9080-CC2C867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2905F-4DF3-4299-B896-77759F92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81760-D136-43A3-B86E-D9A4FAD00A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6bd711d404813"/>
          <a:stretch xmlns:a="http://schemas.openxmlformats.org/drawingml/2006/main"/>
        </p:blipFill>
        <p:spPr>
          <a:xfrm xmlns:a="http://schemas.openxmlformats.org/drawingml/2006/main">
            <a:off x="2246929" y="1704975"/>
            <a:ext cx="4650142" cy="2905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4168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85B44-7EA4-4D09-B2ED-1ED7B50A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CDFC4-9ECE-49B0-A481-275C9A0E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 con datos cargados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5C134-EB35-4749-8A95-50005066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18/10/2026 · Año 2020, magnitud mínima 6: tres eventos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2DAE2-F641-411F-B797-85516030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34A37-13EE-4FEB-8E0C-55716375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CE1A4-1379-4C47-9057-12E87E7720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41cc260854975"/>
          <a:stretch xmlns:a="http://schemas.openxmlformats.org/drawingml/2006/main"/>
        </p:blipFill>
        <p:spPr>
          <a:xfrm xmlns:a="http://schemas.openxmlformats.org/drawingml/2006/main">
            <a:off x="2092791" y="1781175"/>
            <a:ext cx="4958418" cy="2790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6744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55A82-CF51-4D85-83B6-72F11FF1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8A17E-7216-4012-9C91-DADDE76A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Modelo conceptual del proyecto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78E3E8-04C3-4A97-8D9A-19A3314D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Sismos y censos dependen de su contexto territorial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00D1D-3729-460E-8AFE-9C4D1FB2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A05BF-1175-48EA-A4F3-ED29CE97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C0CFA-A439-40E4-B133-A7BCE16534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816aafeec4509"/>
          <a:stretch xmlns:a="http://schemas.openxmlformats.org/drawingml/2006/main"/>
        </p:blipFill>
        <p:spPr>
          <a:xfrm xmlns:a="http://schemas.openxmlformats.org/drawingml/2006/main">
            <a:off x="1682346" y="1619250"/>
            <a:ext cx="5779309" cy="3000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833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780E8-8361-4768-8AAC-9746C356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745E0-2D20-4F32-9868-C88C0ECC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Correspondencia con el almacén publicado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5E3DE-ED36-4E97-A06F-5E0E88D0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El modelo conceptual expresa reglas que el esquema físico puede perder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35A0B-ECCD-4BF5-A264-3F14173A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BB19B-BA10-4CC7-8122-FB780F3D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53B7BB-B54F-4E64-9838-2B1F7E9F141C}"/>
              </a:ext>
            </a:extLst>
          </p:cNvPr>
          <p:cNvGraphicFramePr/>
          <p:nvPr/>
        </p:nvGraphicFramePr>
        <p:xfrm>
          <a:off xmlns:a="http://schemas.openxmlformats.org/drawingml/2006/main" x="381000" y="1809750"/>
          <a:ext xmlns:a="http://schemas.openxmlformats.org/drawingml/2006/main" cx="83820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2762250"/>
                <a:gridCol w="3190875"/>
              </a:tblGrid>
              <a:tr h="45243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Dominio conceptual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Tabla publicada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Punto para explicar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SISMO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dim_sismos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Estado abreviado y nombre redundantes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Fecha del evento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dim_tiempo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Dimensión separada para análisis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Entidad / censo poblacional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dim_zonas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Año censal no conservado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Censo económico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dim_economia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Edición censal no conservada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Relación de impacto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fact_impacto_sismos_imputed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Hecho sin PK declarada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3815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34909-6912-4720-8C47-5381E44E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CA228-9ED2-4294-AD84-B45CD64E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registradas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AE6A4-329F-473C-934E-CA9055A5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Hernandez Barrios Samuel Rodrigo · Issues #2, #3 y #4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01FC5-D4E8-44A1-ABE0-82933F62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C7536-405B-4FD2-B6BB-AFC7E18B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4E32F-F569-409C-A031-E7F53231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P01  Réplicas y secuencias sísmicas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21F08-AF4B-419D-A8D8-9E94B0D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SISMO: principal / SISMO: réplica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79A6B-1E4F-47AD-B9F4-30E7B259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P02  Placas tectónicas como contexto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4592C7-D330-4BAC-ACAB-5BE8D77E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PLACA_TECTONICA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2C9F9-7AD3-45C1-92F8-8B8F676C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P03  Municipios y localidades expuestas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16EFC-654F-4918-9F02-0072DF1E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LOCALIDAD</a:t>
            </a:r>
          </a:p>
        </p:txBody>
      </p:sp>
    </p:spTree>
    <p:extLst>
      <p:ext uri="{BB962C8B-B14F-4D97-AF65-F5344CB8AC3E}">
        <p14:creationId xmlns:p14="http://schemas.microsoft.com/office/powerpoint/2010/main" val="357904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801AF-E109-436B-A325-097580C8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20DA5-BFFD-431E-9711-D97ECC3A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EFDF9-4E87-4F9A-9A32-9D2C16D9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Damas Garnica Adrian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63B55-DEF4-4CE0-BA1B-ECF0C945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F6C7B-809C-47AA-904D-E20F792D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3911F-DD0C-438B-90DF-866A54FE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P04  Identidad territorial consistente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54DD7-0747-4DB5-8D65-B73E11CC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ENTIDAD_FEDERATIVA / IDENTIFICADOR_TERRITORIAL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56CD9-A576-495E-B16B-BB681553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P05  Ediciones censales comparables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A4191-A355-4F3C-A5D7-0BA7F7BC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CENSO_POBLACION / EDICION_CENSAL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F4442-14CB-4E41-BEAC-AC89BBCF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P06  Trazabilidad de valores imputados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0163BC-0CC9-4248-961C-6881853D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[SISMO - IMPACTA - ENTIDAD] / REGISTRO_IMPUTACION</a:t>
            </a:r>
          </a:p>
        </p:txBody>
      </p:sp>
    </p:spTree>
    <p:extLst>
      <p:ext uri="{BB962C8B-B14F-4D97-AF65-F5344CB8AC3E}">
        <p14:creationId xmlns:p14="http://schemas.microsoft.com/office/powerpoint/2010/main" val="8246893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3E2F6-300B-4A70-9509-2C5B2AD5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615B54-B2A8-4B74-8F55-8E5D65B6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72A6D-F420-4FF5-B6AF-676849EF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Esparza Ramón Fernando Adán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01FDF-8F50-43EA-9D58-D38D29A5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FFED1-0C99-49D2-8A27-DCEB3380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3DFFC-8867-407B-8FA5-574F2E93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P07  Procedencia y lotes de carga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666EF-6F7A-403F-8437-2F600853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LOTE_CARGA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2FFD8-5356-4EA6-81C9-1B6F65CC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P08  Historial de correcciones manuales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6AFD3-2C63-4820-85D6-CB33A9E4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REVISION_DATO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64BAB-CEA8-4EE6-9255-1979FCE3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P09  Evaluación de calidad de registros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C0352-A562-4ED2-8E05-DDEFB3E2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EVALUACION_CALIDAD</a:t>
            </a:r>
          </a:p>
        </p:txBody>
      </p:sp>
    </p:spTree>
    <p:extLst>
      <p:ext uri="{BB962C8B-B14F-4D97-AF65-F5344CB8AC3E}">
        <p14:creationId xmlns:p14="http://schemas.microsoft.com/office/powerpoint/2010/main" val="21059183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C7ACB-C206-4DC5-B93A-7F964083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F2E0C-D518-4218-9672-60586518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43D1C-AF09-41D1-BF13-0AD3386A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Ramos Padrón Jesus Emmanuel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B1339-6B6E-4A4E-82B1-97180986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123D9-2459-4E6C-BB85-820155BA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6C604-CA8A-4E51-8ED7-96A45CB1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P10  Comparación de escenarios de impacto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2CBE6-4DAE-44C3-BF23-EFC39667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RESULTADO_ESCENARIO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6AB1B-42F1-45A3-9D04-341325FC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P11  Observaciones por estación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0B76F-1EAF-4425-BADE-47225339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OBSERVACION_INSTRUMENTAL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86371-51FC-41D5-814E-805BD923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P12  Alertas por criterios configurables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C3B187-F4FC-44DE-8286-3A59487F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ALERTA_GENERADA</a:t>
            </a:r>
          </a:p>
        </p:txBody>
      </p:sp>
    </p:spTree>
    <p:extLst>
      <p:ext uri="{BB962C8B-B14F-4D97-AF65-F5344CB8AC3E}">
        <p14:creationId xmlns:p14="http://schemas.microsoft.com/office/powerpoint/2010/main" val="6485652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AAE4B-828D-4303-AEE9-89ADBBFC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75417-C40F-47E1-BDC1-278A7C54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Estado de la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EF41C4-1EB5-4BCF-9B60-C3876124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Documentación recuperada y evidencias actuales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B42FF-6A73-4420-BDF0-87C8A415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7D047-7EFD-42A8-A166-B1D2317E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A4D93-BF4A-48ED-B70A-5B348D16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5737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 y consulta SQL comprobadas.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CBE3D-1629-4C33-80D8-2A57ADBE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7652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Doce propuestas documentadas; nueve por validar.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30F35-C6F8-4DD2-82D7-EFBCBC04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49567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Pendiente: captura de terminal, issues y revisión del compañero.</a:t>
            </a:r>
          </a:p>
        </p:txBody>
      </p:sp>
    </p:spTree>
    <p:extLst>
      <p:ext uri="{BB962C8B-B14F-4D97-AF65-F5344CB8AC3E}">
        <p14:creationId xmlns:p14="http://schemas.microsoft.com/office/powerpoint/2010/main" val="14332272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2026-10-18T17:03:48.2910000Z</dcterms:created>
  <dcterms:modified xsi:type="dcterms:W3CDTF">2026-10-18T17:03:48.2910000Z</dcterms:modified>
</coreProperties>
</file>