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285423839a14944" /><Relationship Type="http://schemas.openxmlformats.org/officeDocument/2006/relationships/extended-properties" Target="/docProps/app.xml" Id="R65a80ed6826c4f2c" /><Relationship Type="http://schemas.openxmlformats.org/officeDocument/2006/relationships/officeDocument" Target="/ppt/presentation.xml" Id="Rb40d29bf4a164ef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4b9f44c9e804494"/>
  </p:sldMasterIdLst>
  <p:notesMasterIdLst>
    <p:notesMasterId xmlns:r="http://schemas.openxmlformats.org/officeDocument/2006/relationships" r:id="R49287653c12f4265"/>
  </p:notesMasterIdLst>
  <p:sldIdLst>
    <p:sldId xmlns:r="http://schemas.openxmlformats.org/officeDocument/2006/relationships" id="256" r:id="R27a69285e97e4c3e"/>
    <p:sldId xmlns:r="http://schemas.openxmlformats.org/officeDocument/2006/relationships" id="257" r:id="Rbcd88ee8473c4b7b"/>
    <p:sldId xmlns:r="http://schemas.openxmlformats.org/officeDocument/2006/relationships" id="258" r:id="R19c7a2bf8ee74eba"/>
    <p:sldId xmlns:r="http://schemas.openxmlformats.org/officeDocument/2006/relationships" id="259" r:id="R9f9be6555ef24ac0"/>
    <p:sldId xmlns:r="http://schemas.openxmlformats.org/officeDocument/2006/relationships" id="260" r:id="R4b78c1763aa44209"/>
    <p:sldId xmlns:r="http://schemas.openxmlformats.org/officeDocument/2006/relationships" id="261" r:id="R2962f82d5ba54f19"/>
    <p:sldId xmlns:r="http://schemas.openxmlformats.org/officeDocument/2006/relationships" id="262" r:id="R354629d9d8584b36"/>
    <p:sldId xmlns:r="http://schemas.openxmlformats.org/officeDocument/2006/relationships" id="263" r:id="R01019ea0744d432a"/>
    <p:sldId xmlns:r="http://schemas.openxmlformats.org/officeDocument/2006/relationships" id="264" r:id="Rf835eafc0e984ed9"/>
    <p:sldId xmlns:r="http://schemas.openxmlformats.org/officeDocument/2006/relationships" id="265" r:id="Rb675f01f4e664294"/>
    <p:sldId xmlns:r="http://schemas.openxmlformats.org/officeDocument/2006/relationships" id="266" r:id="R16cf6ce1bd144695"/>
    <p:sldId xmlns:r="http://schemas.openxmlformats.org/officeDocument/2006/relationships" id="267" r:id="Rce51b6edf0a64c96"/>
  </p:sldIdLst>
  <p:sldSz cx="9144000" cy="5143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0d2461515284cf9" /><Relationship Type="http://schemas.openxmlformats.org/officeDocument/2006/relationships/slideMaster" Target="/ppt/slideMasters/slideMaster1.xml" Id="R54b9f44c9e804494" /><Relationship Type="http://schemas.openxmlformats.org/officeDocument/2006/relationships/notesMaster" Target="/ppt/notesMasters/notesMaster1.xml" Id="R49287653c12f4265" /><Relationship Type="http://schemas.openxmlformats.org/officeDocument/2006/relationships/presProps" Target="/ppt/presProps.xml" Id="Rf702b8e242df4101" /><Relationship Type="http://schemas.openxmlformats.org/officeDocument/2006/relationships/tableStyles" Target="/ppt/tableStyles.xml" Id="R8ceec6f64e98448c" /><Relationship Type="http://schemas.openxmlformats.org/officeDocument/2006/relationships/slide" Target="/ppt/slides/slide1.xml" Id="R27a69285e97e4c3e" /><Relationship Type="http://schemas.openxmlformats.org/officeDocument/2006/relationships/slide" Target="/ppt/slides/slide2.xml" Id="Rbcd88ee8473c4b7b" /><Relationship Type="http://schemas.openxmlformats.org/officeDocument/2006/relationships/slide" Target="/ppt/slides/slide3.xml" Id="R19c7a2bf8ee74eba" /><Relationship Type="http://schemas.openxmlformats.org/officeDocument/2006/relationships/slide" Target="/ppt/slides/slide4.xml" Id="R9f9be6555ef24ac0" /><Relationship Type="http://schemas.openxmlformats.org/officeDocument/2006/relationships/slide" Target="/ppt/slides/slide5.xml" Id="R4b78c1763aa44209" /><Relationship Type="http://schemas.openxmlformats.org/officeDocument/2006/relationships/slide" Target="/ppt/slides/slide6.xml" Id="R2962f82d5ba54f19" /><Relationship Type="http://schemas.openxmlformats.org/officeDocument/2006/relationships/slide" Target="/ppt/slides/slide7.xml" Id="R354629d9d8584b36" /><Relationship Type="http://schemas.openxmlformats.org/officeDocument/2006/relationships/slide" Target="/ppt/slides/slide8.xml" Id="R01019ea0744d432a" /><Relationship Type="http://schemas.openxmlformats.org/officeDocument/2006/relationships/slide" Target="/ppt/slides/slide9.xml" Id="Rf835eafc0e984ed9" /><Relationship Type="http://schemas.openxmlformats.org/officeDocument/2006/relationships/slide" Target="/ppt/slides/slide10.xml" Id="Rb675f01f4e664294" /><Relationship Type="http://schemas.openxmlformats.org/officeDocument/2006/relationships/slide" Target="/ppt/slides/slide11.xml" Id="R16cf6ce1bd144695" /><Relationship Type="http://schemas.openxmlformats.org/officeDocument/2006/relationships/slide" Target="/ppt/slides/slide12.xml" Id="Rce51b6edf0a64c9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31cb9eb590f4a2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ee5468287194180" /><Relationship Type="http://schemas.openxmlformats.org/officeDocument/2006/relationships/notesMaster" Target="/ppt/notesMasters/notesMaster1.xml" Id="R44a976f0a18b442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37f1456e7b94720" /><Relationship Type="http://schemas.openxmlformats.org/officeDocument/2006/relationships/notesMaster" Target="/ppt/notesMasters/notesMaster1.xml" Id="R6b2c8be75fb64d8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0bc560df33c4ba0" /><Relationship Type="http://schemas.openxmlformats.org/officeDocument/2006/relationships/notesMaster" Target="/ppt/notesMasters/notesMaster1.xml" Id="R83699c4b6dbe467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23fe8004e6147a5" /><Relationship Type="http://schemas.openxmlformats.org/officeDocument/2006/relationships/notesMaster" Target="/ppt/notesMasters/notesMaster1.xml" Id="R3d8143b9f8bc41a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d0c3e44f25242ef" /><Relationship Type="http://schemas.openxmlformats.org/officeDocument/2006/relationships/notesMaster" Target="/ppt/notesMasters/notesMaster1.xml" Id="Rd9eeceae82614ba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6290fe737ee4775" /><Relationship Type="http://schemas.openxmlformats.org/officeDocument/2006/relationships/notesMaster" Target="/ppt/notesMasters/notesMaster1.xml" Id="R42f24cc1dade4f8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a7eef765f314e12" /><Relationship Type="http://schemas.openxmlformats.org/officeDocument/2006/relationships/notesMaster" Target="/ppt/notesMasters/notesMaster1.xml" Id="R1eb9a735d180440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4668e707f5d4f24" /><Relationship Type="http://schemas.openxmlformats.org/officeDocument/2006/relationships/notesMaster" Target="/ppt/notesMasters/notesMaster1.xml" Id="R1b04a4f4ce45488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6b2a26b95a44803" /><Relationship Type="http://schemas.openxmlformats.org/officeDocument/2006/relationships/notesMaster" Target="/ppt/notesMasters/notesMaster1.xml" Id="R48f20f57581f48d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af92fd3b5c74664" /><Relationship Type="http://schemas.openxmlformats.org/officeDocument/2006/relationships/notesMaster" Target="/ppt/notesMasters/notesMaster1.xml" Id="Rbb92ecf97a6b41e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b186e04c4f04332" /><Relationship Type="http://schemas.openxmlformats.org/officeDocument/2006/relationships/notesMaster" Target="/ppt/notesMasters/notesMaster1.xml" Id="Rfe9f98d782b24ee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5cd9d9460704e9d" /><Relationship Type="http://schemas.openxmlformats.org/officeDocument/2006/relationships/notesMaster" Target="/ppt/notesMasters/notesMaster1.xml" Id="R44430c267d8341d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Codex (OpenAI): apoyo en la elaboración del proyecto. Las propuestas P04–P12 siguen pendientes de validación.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 presentación contiene solo Sismos. El tiempo total de 12–15 minutos que pide la consigna también incluye el proyecto propio, ahora separado en BD-Proyecto-Musica. Repartir las propuestas después de confirmar el equipo y validar sus borradores.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fork Samuel-Hdzx07/Seismic-Data-Visualization-System, commit 8569667cf4f46fab640dba3f82a7b324ca7efaf7. DDL sql/00-datawarehouse_tables.sql. Artículo Cuando México tiembla, DOI 10.24275/AZC2026E1004.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Captura histórica del levantamiento documentado el 26/09/2026, no una ejecución nueva. SELECT * FROM dim_sismos LIMIT 5. Explicar magnitud, coordenadas, profundidad y estado. La consulta se repitió el 18/10/2026 y confirmó 319592 filas totales. Ver levantamiento.md y el registro actual. La imagen mostrada sigue siendo la captura histórica.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Captura real del 18/10/2026. El filtro pasó de 21 eventos con magnitud mínima 5 a 3 con magnitud mínima 6. La base respondió con 319592 filas en dim_sismos. Comandos reales en capturas/ejecucion-2026-10-18.txt. Sigue pendiente una captura auténtica del arranque en terminal. Los indicadores de población son resultados de la aplicación y no equivalen a personas damnificadas observadas.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Explicar SISMO, ENTIDAD_FEDERATIVA, CENSO_POBLACION y CENSO_ECONOMICO. Los censos son entidades débiles: entidad propietaria y año censal identifican cada registro. Fuente: proyecto-asignado/eer.png y correspondencia-con-el-esquema.pdf.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Contraste con DDL del commit 8569667cf4f46fab640dba3f82a7b324ca7efaf7. No presentar el esquema estrella como si fuera el modelo conceptual. El PDF de correspondencia contiene el análisis completo.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P01 Réplicas y secuencias sísmicas</a:t>
            </a:r>
          </a:p>
          <a:p xmlns:a="http://schemas.openxmlformats.org/drawingml/2006/main">
            <a:r>
              <a:t>Estado: Registrada / issue #2</a:t>
            </a:r>
          </a:p>
          <a:p xmlns:a="http://schemas.openxmlformats.org/drawingml/2006/main">
            <a:r>
              <a:t>Necesidad: El modelo actual representa los sismos como eventos aislados y no conserva qué evento se considera réplica de otro.</a:t>
            </a:r>
          </a:p>
          <a:p xmlns:a="http://schemas.openxmlformats.org/drawingml/2006/main">
            <a:r>
              <a:t>Función: Un analista selecciona un sismo principal y consulta sus réplicas, distancias e intervalos. La ventana temporal y el radio de búsqueda son configurables.</a:t>
            </a:r>
          </a:p>
          <a:p xmlns:a="http://schemas.openxmlformats.org/drawingml/2006/main">
            <a:r>
              <a:t>Modelo: Relación recursiva ES_REPLICA_DE sobre SISMO: principal (0,N), réplica (0,1). intervalo_horas y distancia_km son derivados. El criterio de asignación debe documentarse como una regla operativa, no como una clasificación sismológica definitiva.</a:t>
            </a:r>
          </a:p>
          <a:p xmlns:a="http://schemas.openxmlformats.org/drawingml/2006/main">
            <a:r>
              <a:t>Sustento: Propuesta existente en el issue #2 y en el documento original. Atiende la necesidad identificada al contrastar los usos del artículo con el modelo.</a:t>
            </a:r>
          </a:p>
          <a:p xmlns:a="http://schemas.openxmlformats.org/drawingml/2006/main">
            <a:r>
              <a:t>Dificultad: Media: comparar eventos por tiempo, distancia y magnitud, resolver candidatos y validar el resultado.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P02 Placas tectónicas como contexto</a:t>
            </a:r>
          </a:p>
          <a:p xmlns:a="http://schemas.openxmlformats.org/drawingml/2006/main">
            <a:r>
              <a:t>Estado: Registrada / issue #3</a:t>
            </a:r>
          </a:p>
          <a:p xmlns:a="http://schemas.openxmlformats.org/drawingml/2006/main">
            <a:r>
              <a:t>Necesidad: El catálogo no conserva la placa asociada al epicentro ni el contexto de sus límites.</a:t>
            </a:r>
          </a:p>
          <a:p xmlns:a="http://schemas.openxmlformats.org/drawingml/2006/main">
            <a:r>
              <a:t>Función: Un usuario consulta eventos por placa y compara magnitudes y profundidades por región tectónica.</a:t>
            </a:r>
          </a:p>
          <a:p xmlns:a="http://schemas.openxmlformats.org/drawingml/2006/main">
            <a:r>
              <a:t>Modelo: PLACA_TECTONICA con identificador, nombre y geometría; SISMO (0,1) - OCURRE_EN - PLACA_TECTONICA (0,N). INTERACTUA_CON relaciona placas y guarda tipo_limite.</a:t>
            </a:r>
          </a:p>
          <a:p xmlns:a="http://schemas.openxmlformats.org/drawingml/2006/main">
            <a:r>
              <a:t>Sustento: Propuesta existente en el issue #3. La figura de placas del artículo y la necesidad de incorporar fuentes adicionales motivan la ampliación.</a:t>
            </a:r>
          </a:p>
          <a:p xmlns:a="http://schemas.openxmlformats.org/drawingml/2006/main">
            <a:r>
              <a:t>Dificultad: Media: obtener una fuente geográfica adecuada, documentar su precisión y resolver puntos cercanos a fronteras.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P03 Municipios y localidades expuestas</a:t>
            </a:r>
          </a:p>
          <a:p xmlns:a="http://schemas.openxmlformats.org/drawingml/2006/main">
            <a:r>
              <a:t>Estado: Registrada / issue #4</a:t>
            </a:r>
          </a:p>
          <a:p xmlns:a="http://schemas.openxmlformats.org/drawingml/2006/main">
            <a:r>
              <a:t>Necesidad: La información territorial disponible se agrega por entidad federativa y no permite distinguir localidades cercanas a un epicentro.</a:t>
            </a:r>
          </a:p>
          <a:p xmlns:a="http://schemas.openxmlformats.org/drawingml/2006/main">
            <a:r>
              <a:t>Función: Protección civil consulta localidades dentro de un radio, con población y distancia, agrupadas por municipio.</a:t>
            </a:r>
          </a:p>
          <a:p xmlns:a="http://schemas.openxmlformats.org/drawingml/2006/main">
            <a:r>
              <a:t>Modelo: MUNICIPIO depende de ENTIDAD_FEDERATIVA y LOCALIDAD de MUNICIPIO. EXPUESTA_A relaciona SISMO y LOCALIDAD en M:N; distancia_epicentro_km es derivada.</a:t>
            </a:r>
          </a:p>
          <a:p xmlns:a="http://schemas.openxmlformats.org/drawingml/2006/main">
            <a:r>
              <a:t>Sustento: Issue #4 y hallazgo comprobable en el DDL: dim_zonas solo contiene atributos de entidad y población agregada.</a:t>
            </a:r>
          </a:p>
          <a:p xmlns:a="http://schemas.openxmlformats.org/drawingml/2006/main">
            <a:r>
              <a:t>Dificultad: Alta: cargar un catálogo territorial más detallado y controlar el volumen de relaciones sismo-localidad.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P04 Identidad territorial consistente</a:t>
            </a:r>
          </a:p>
          <a:p xmlns:a="http://schemas.openxmlformats.org/drawingml/2006/main">
            <a:r>
              <a:t>Estado: Borrador para validación</a:t>
            </a:r>
          </a:p>
          <a:p xmlns:a="http://schemas.openxmlformats.org/drawingml/2006/main">
            <a:r>
              <a:t>Necesidad: La entidad federativa se repite con nombres y tipos distintos en las dimensiones, sin un catálogo común que resuelva equivalencias.</a:t>
            </a:r>
          </a:p>
          <a:p xmlns:a="http://schemas.openxmlformats.org/drawingml/2006/main">
            <a:r>
              <a:t>Función: El analista selecciona una entidad una sola vez y obtiene sismos, población y economía asociados a la misma identidad territorial.</a:t>
            </a:r>
          </a:p>
          <a:p xmlns:a="http://schemas.openxmlformats.org/drawingml/2006/main">
            <a:r>
              <a:t>Modelo: Conservar ENTIDAD_FEDERATIVA como identidad común y agregar IDENTIFICADOR_TERRITORIAL (fuente, código, vigencia). Normalizar las referencias desde sismos y censos mediante un mapeo verificable de códigos.</a:t>
            </a:r>
          </a:p>
          <a:p xmlns:a="http://schemas.openxmlformats.org/drawingml/2006/main">
            <a:r>
              <a:t>Sustento: Hallazgo en el DDL: estado es VARCHAR, entidad de zonas es INT y entidad de economía es DOUBLE PRECISION. Desarrolla la idea de catálogo único que aparecía en la presentación anterior.</a:t>
            </a:r>
          </a:p>
          <a:p xmlns:a="http://schemas.openxmlformats.org/drawingml/2006/main">
            <a:r>
              <a:t>Dificultad: Media: depurar equivalencias y migrar referencias sin confundir abreviaturas con claves oficiales.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P05 Ediciones censales comparables</a:t>
            </a:r>
          </a:p>
          <a:p xmlns:a="http://schemas.openxmlformats.org/drawingml/2006/main">
            <a:r>
              <a:t>Estado: Borrador para validación</a:t>
            </a:r>
          </a:p>
          <a:p xmlns:a="http://schemas.openxmlformats.org/drawingml/2006/main">
            <a:r>
              <a:t>Necesidad: Las dimensiones publicadas no conservan anio_censo; una actualización puede impedir distinguir mediciones de distintas ediciones.</a:t>
            </a:r>
          </a:p>
          <a:p xmlns:a="http://schemas.openxmlformats.org/drawingml/2006/main">
            <a:r>
              <a:t>Función: El usuario elige la edición censal y compara indicadores de una entidad entre periodos sin sobrescribir observaciones anteriores.</a:t>
            </a:r>
          </a:p>
          <a:p xmlns:a="http://schemas.openxmlformats.org/drawingml/2006/main">
            <a:r>
              <a:t>Modelo: Agregar EDICION_CENSAL (identificador, año, fuente, fecha de referencia) y vincular CENSO_POBLACION y CENSO_ECONOMICO a su edición. La combinación entidad-edición identifica cada observación censal.</a:t>
            </a:r>
          </a:p>
          <a:p xmlns:a="http://schemas.openxmlformats.org/drawingml/2006/main">
            <a:r>
              <a:t>Sustento: Ausencia de anio_censo en dim_zonas y dim_economia. El EER ya reconoce el año; la propuesta añade metadatos de edición y evita perderlo en el almacén.</a:t>
            </a:r>
          </a:p>
          <a:p xmlns:a="http://schemas.openxmlformats.org/drawingml/2006/main">
            <a:r>
              <a:t>Dificultad: Media: definir el grano, conservar ediciones y hacer explícita la edición usada por cada consulta de impacto.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P06 Trazabilidad de valores imputados</a:t>
            </a:r>
          </a:p>
          <a:p xmlns:a="http://schemas.openxmlformats.org/drawingml/2006/main">
            <a:r>
              <a:t>Estado: Borrador para validación</a:t>
            </a:r>
          </a:p>
          <a:p xmlns:a="http://schemas.openxmlformats.org/drawingml/2006/main">
            <a:r>
              <a:t>Necesidad: El nombre de la tabla de hechos indica imputación, pero su DDL no registra qué campo se estimó ni cómo se obtuvo el resultado.</a:t>
            </a:r>
          </a:p>
          <a:p xmlns:a="http://schemas.openxmlformats.org/drawingml/2006/main">
            <a:r>
              <a:t>Función: El analista distingue valores observados e imputados y consulta método, fecha y valor original antes de usar un indicador.</a:t>
            </a:r>
          </a:p>
          <a:p xmlns:a="http://schemas.openxmlformats.org/drawingml/2006/main">
            <a:r>
              <a:t>Modelo: Agregar REGISTRO_IMPUTACION relacionado con una ocurrencia de IMPACTA mediante agregación. Registrar campo, valor original, valor obtenido, método y versión, fecha y medida de confianza solo cuando el método la produzca.</a:t>
            </a:r>
          </a:p>
          <a:p xmlns:a="http://schemas.openxmlformats.org/drawingml/2006/main">
            <a:r>
              <a:t>Sustento: Hallazgo en fact_impacto_sismos_imputed: no hay columnas de procedencia de imputación. Desarrolla la propuesta de trazabilidad incluida en la presentación anterior.</a:t>
            </a:r>
          </a:p>
          <a:p xmlns:a="http://schemas.openxmlformats.org/drawingml/2006/main">
            <a:r>
              <a:t>Dificultad: Alta: identificar cada observación de impacto y registrar resultados reproducibles sin atribuir una confianza que no se haya calculado.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P07 Procedencia y lotes de carga</a:t>
            </a:r>
          </a:p>
          <a:p xmlns:a="http://schemas.openxmlformats.org/drawingml/2006/main">
            <a:r>
              <a:t>Estado: Borrador para validación</a:t>
            </a:r>
          </a:p>
          <a:p xmlns:a="http://schemas.openxmlformats.org/drawingml/2006/main">
            <a:r>
              <a:t>Necesidad: El modelo no permite determinar con qué archivo o actualización se incorporó un registro al sistema.</a:t>
            </a:r>
          </a:p>
          <a:p xmlns:a="http://schemas.openxmlformats.org/drawingml/2006/main">
            <a:r>
              <a:t>Función: El administrador rastrea un sismo hasta su fuente y lote, identifica la fecha de incorporación y consulta el alcance de cada carga.</a:t>
            </a:r>
          </a:p>
          <a:p xmlns:a="http://schemas.openxmlformats.org/drawingml/2006/main">
            <a:r>
              <a:t>Modelo: Agregar FUENTE_DATOS y LOTE_CARGA con referencia de archivo, hash, fechas y estado. Registrar la incorporación de SISMO a un lote. La procedencia no reemplaza el historial de correcciones manuales ni el registro de imputación.</a:t>
            </a:r>
          </a:p>
          <a:p xmlns:a="http://schemas.openxmlformats.org/drawingml/2006/main">
            <a:r>
              <a:t>Sustento: Necesidad identificada durante la revisión del DDL, que solo declara datos del dominio y carece de metadatos de carga.</a:t>
            </a:r>
          </a:p>
          <a:p xmlns:a="http://schemas.openxmlformats.org/drawingml/2006/main">
            <a:r>
              <a:t>Dificultad: Media: instrumentar el proceso de carga y definir cómo detectar duplicados y nuevas versiones de archivos.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P08 Historial de correcciones manuales</a:t>
            </a:r>
          </a:p>
          <a:p xmlns:a="http://schemas.openxmlformats.org/drawingml/2006/main">
            <a:r>
              <a:t>Estado: Borrador para validación</a:t>
            </a:r>
          </a:p>
          <a:p xmlns:a="http://schemas.openxmlformats.org/drawingml/2006/main">
            <a:r>
              <a:t>Necesidad: Una corrección de magnitud, coordenadas o referencia puede reemplazar información sin conservar quién la modificó y por qué.</a:t>
            </a:r>
          </a:p>
          <a:p xmlns:a="http://schemas.openxmlformats.org/drawingml/2006/main">
            <a:r>
              <a:t>Función: Una persona autorizada corrige un registro y el equipo puede consultar la secuencia de cambios y su justificación.</a:t>
            </a:r>
          </a:p>
          <a:p xmlns:a="http://schemas.openxmlformats.org/drawingml/2006/main">
            <a:r>
              <a:t>Modelo: Agregar REVISION_DATO con campo, valor anterior, valor nuevo, motivo, instante y editor; relacionarla con SISMO. Se documentan cambios manuales, separados de la estimación automática de datos faltantes.</a:t>
            </a:r>
          </a:p>
          <a:p xmlns:a="http://schemas.openxmlformats.org/drawingml/2006/main">
            <a:r>
              <a:t>Sustento: Necesidad identificada en el análisis de integridad: el esquema no contiene una bitácora de modificaciones del catálogo.</a:t>
            </a:r>
          </a:p>
          <a:p xmlns:a="http://schemas.openxmlformats.org/drawingml/2006/main">
            <a:r>
              <a:t>Dificultad: Media: identificar editores y registrar cambios de forma transaccional, conservando la referencia al registro afectado.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P09 Evaluación de calidad de registros</a:t>
            </a:r>
          </a:p>
          <a:p xmlns:a="http://schemas.openxmlformats.org/drawingml/2006/main">
            <a:r>
              <a:t>Estado: Borrador para validación</a:t>
            </a:r>
          </a:p>
          <a:p xmlns:a="http://schemas.openxmlformats.org/drawingml/2006/main">
            <a:r>
              <a:t>Necesidad: No se conservan resultados de validación que permitan distinguir registros completos, sospechosos y rechazados antes del análisis.</a:t>
            </a:r>
          </a:p>
          <a:p xmlns:a="http://schemas.openxmlformats.org/drawingml/2006/main">
            <a:r>
              <a:t>Función: El equipo filtra incidencias por regla o lote y conoce qué datos requieren revisión antes de generar reportes.</a:t>
            </a:r>
          </a:p>
          <a:p xmlns:a="http://schemas.openxmlformats.org/drawingml/2006/main">
            <a:r>
              <a:t>Modelo: Agregar REGLA_CALIDAD y EVALUACION_CALIDAD para relacionar SISMO con regla, versión, resultado, fecha y detalle. No sustituir el valor original ni confundir una incidencia con una corrección.</a:t>
            </a:r>
          </a:p>
          <a:p xmlns:a="http://schemas.openxmlformats.org/drawingml/2006/main">
            <a:r>
              <a:t>Sustento: Hallazgo del DDL: latitud, longitud, magnitud y demás campos no tienen CHECK ni NOT NULL; la consulta histórica muestra que es importante examinar la calidad antes de interpretar valores.</a:t>
            </a:r>
          </a:p>
          <a:p xmlns:a="http://schemas.openxmlformats.org/drawingml/2006/main">
            <a:r>
              <a:t>Dificultad: Media: acordar reglas, conservar resultados y distinguir avisos de errores que realmente impiden la carga.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P10 Comparación de escenarios de impacto</a:t>
            </a:r>
          </a:p>
          <a:p xmlns:a="http://schemas.openxmlformats.org/drawingml/2006/main">
            <a:r>
              <a:t>Estado: Borrador para validación</a:t>
            </a:r>
          </a:p>
          <a:p xmlns:a="http://schemas.openxmlformats.org/drawingml/2006/main">
            <a:r>
              <a:t>Necesidad: El hecho publicado guarda indicadores de impacto sin identificar un escenario, versión de cálculo o parámetros que expliquen diferencias entre estimaciones.</a:t>
            </a:r>
          </a:p>
          <a:p xmlns:a="http://schemas.openxmlformats.org/drawingml/2006/main">
            <a:r>
              <a:t>Función: El analista compara resultados para un mismo sismo bajo distintas ediciones censales o configuraciones, manteniendo separados los resultados calculados de los datos observados.</a:t>
            </a:r>
          </a:p>
          <a:p xmlns:a="http://schemas.openxmlformats.org/drawingml/2006/main">
            <a:r>
              <a:t>Modelo: Agregar ESCENARIO_IMPACTO y RESULTADO_ESCENARIO relacionados con SISMO y ENTIDAD_FEDERATIVA. Guardar versión de cálculo, parámetros, edición de datos, fecha e indicadores con unidades definidas.</a:t>
            </a:r>
          </a:p>
          <a:p xmlns:a="http://schemas.openxmlformats.org/drawingml/2006/main">
            <a:r>
              <a:t>Sustento: Necesidad identificada a partir de los indicadores del hecho y de la ausencia de metadatos de escenario en su DDL. No se afirma que las estimaciones sean predicciones validadas.</a:t>
            </a:r>
          </a:p>
          <a:p xmlns:a="http://schemas.openxmlformats.org/drawingml/2006/main">
            <a:r>
              <a:t>Dificultad: Alta: definir una metodología reproducible y comparar únicamente resultados de grano y unidades compatibles.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P11 Observaciones por estación</a:t>
            </a:r>
          </a:p>
          <a:p xmlns:a="http://schemas.openxmlformats.org/drawingml/2006/main">
            <a:r>
              <a:t>Estado: Borrador para validación</a:t>
            </a:r>
          </a:p>
          <a:p xmlns:a="http://schemas.openxmlformats.org/drawingml/2006/main">
            <a:r>
              <a:t>Necesidad: El catálogo describe epicentros, pero no conserva mediciones instrumentales asociadas a una estación y a un evento.</a:t>
            </a:r>
          </a:p>
          <a:p xmlns:a="http://schemas.openxmlformats.org/drawingml/2006/main">
            <a:r>
              <a:t>Función: El investigador consulta estaciones que registraron un evento y examina sus mediciones con unidades y procedencia explícitas.</a:t>
            </a:r>
          </a:p>
          <a:p xmlns:a="http://schemas.openxmlformats.org/drawingml/2006/main">
            <a:r>
              <a:t>Modelo: Agregar ESTACION y OBSERVACION_INSTRUMENTAL entre SISMO y ESTACION, con instante, variable, valor, unidad y fuente. Un evento y una estación pueden tener varias observaciones.</a:t>
            </a:r>
          </a:p>
          <a:p xmlns:a="http://schemas.openxmlformats.org/drawingml/2006/main">
            <a:r>
              <a:t>Sustento: Necesidad de análisis planteada en este borrador. Requiere conseguir y evaluar una fuente de mediciones; esos datos no están en la base actual y no se inventan para la propuesta.</a:t>
            </a:r>
          </a:p>
          <a:p xmlns:a="http://schemas.openxmlformats.org/drawingml/2006/main">
            <a:r>
              <a:t>Dificultad: Alta: conseguir una fuente compatible, vincular eventos y estaciones y evitar mezclar magnitudes, intensidad y mediciones físicas diferentes.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P12 Alertas por criterios configurables</a:t>
            </a:r>
          </a:p>
          <a:p xmlns:a="http://schemas.openxmlformats.org/drawingml/2006/main">
            <a:r>
              <a:t>Estado: Borrador para validación</a:t>
            </a:r>
          </a:p>
          <a:p xmlns:a="http://schemas.openxmlformats.org/drawingml/2006/main">
            <a:r>
              <a:t>Necesidad: Las consultas manuales no conservan qué eventos cumplieron una regla de interés ni a quién corresponde revisar el resultado.</a:t>
            </a:r>
          </a:p>
          <a:p xmlns:a="http://schemas.openxmlformats.org/drawingml/2006/main">
            <a:r>
              <a:t>Función: Un observador configura umbrales de magnitud, profundidad o entidad y consulta un historial de coincidencias y atención. La función sirve para seguimiento del catálogo, sin presentarse como alerta temprana.</a:t>
            </a:r>
          </a:p>
          <a:p xmlns:a="http://schemas.openxmlformats.org/drawingml/2006/main">
            <a:r>
              <a:t>Modelo: Agregar OBSERVADOR, REGLA_ALERTA y ALERTA_GENERADA; vincular cada alerta con SISMO, regla y fecha de evaluación, y registrar estado de atención. No se envían mensajes reales al elaborar esta propuesta.</a:t>
            </a:r>
          </a:p>
          <a:p xmlns:a="http://schemas.openxmlformats.org/drawingml/2006/main">
            <a:r>
              <a:t>Sustento: Necesidad de seguimiento identificada a partir de las consultas de Sismos. La evaluación posterior de un registro es distinta de un sistema de aviso previo a la llegada de ondas.</a:t>
            </a:r>
          </a:p>
          <a:p xmlns:a="http://schemas.openxmlformats.org/drawingml/2006/main">
            <a:r>
              <a:t>Dificultad: Media: versionar reglas, evitar duplicados y conservar el motivo por el que un evento cumplió el criterio.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levantamiento.md, eer.png, correspondencia-con-el-esquema.pdf, propuestas/propuestas-de-mejora.pdf. Los issues #2–#4 pertenecen al repositorio anterior. No se atribuye validación de compañeros ni ejecución del cambio de Práctica 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af0bbc340f4cd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acdf9707234f5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5c071204594f9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4d6f1d9a3946b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efe268dedc4ab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931b8fc6034ea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98B710B-4BF0-4BDE-8259-E6FF830B4F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14400" y="1943100"/>
            <a:ext cx="7315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B219C17-5292-4DC6-8D77-88989FE3E0A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2828925"/>
            <a:ext cx="6400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C88B8A3-F9FF-4659-AC19-97260340BF1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14400" y="2143125"/>
            <a:ext cx="731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5D98D23-C2C9-4C22-8154-D507DA10079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4350" y="400050"/>
            <a:ext cx="8115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C4D0F87-E392-438C-BBD8-27AC3649CBB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4350" y="1428750"/>
            <a:ext cx="8115300" cy="32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14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000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286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572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0858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144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5430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7716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002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76DA3F2-0A7A-4EB5-8BAE-447C0E502C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4350" y="400050"/>
            <a:ext cx="8115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65AA3CC-F250-472B-B918-9B481BFE48F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4350" y="1428750"/>
            <a:ext cx="3771900" cy="32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14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000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286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572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0858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144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5430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7716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002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D84B090-338F-4EA1-85E5-16E113EE096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57750" y="1428750"/>
            <a:ext cx="3771900" cy="32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14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000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286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572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0858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144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5430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7716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002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18FED6A-DA7A-4B6A-A2AC-5CC4A5F4B3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4350" y="400050"/>
            <a:ext cx="8115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2153F67-EEF9-4CC0-8326-6CD80FE941B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4350" y="1428750"/>
            <a:ext cx="3771900" cy="32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14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000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286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572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0858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144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5430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7716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002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63ba3f1842b4555" /><Relationship Type="http://schemas.openxmlformats.org/officeDocument/2006/relationships/slideLayout" Target="/ppt/slideLayouts/slideLayout1.xml" Id="R39923a88985f42fa" /><Relationship Type="http://schemas.openxmlformats.org/officeDocument/2006/relationships/slideLayout" Target="/ppt/slideLayouts/slideLayout2.xml" Id="R8e6536e81a324407" /><Relationship Type="http://schemas.openxmlformats.org/officeDocument/2006/relationships/slideLayout" Target="/ppt/slideLayouts/slideLayout3.xml" Id="Re7b58f14f1974e4c" /><Relationship Type="http://schemas.openxmlformats.org/officeDocument/2006/relationships/slideLayout" Target="/ppt/slideLayouts/slideLayout4.xml" Id="R525e91182b7348ce" /><Relationship Type="http://schemas.openxmlformats.org/officeDocument/2006/relationships/slideLayout" Target="/ppt/slideLayouts/slideLayout5.xml" Id="Ra8c3bdd506c74378" /><Relationship Type="http://schemas.openxmlformats.org/officeDocument/2006/relationships/slideLayout" Target="/ppt/slideLayouts/slideLayout6.xml" Id="R5bb76b6b2f33439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9923a88985f42fa"/>
    <p:sldLayoutId xmlns:r="http://schemas.openxmlformats.org/officeDocument/2006/relationships" id="2147483650" r:id="R8e6536e81a324407"/>
    <p:sldLayoutId xmlns:r="http://schemas.openxmlformats.org/officeDocument/2006/relationships" id="2147483651" r:id="Re7b58f14f1974e4c"/>
    <p:sldLayoutId xmlns:r="http://schemas.openxmlformats.org/officeDocument/2006/relationships" id="2147483652" r:id="R525e91182b7348ce"/>
    <p:sldLayoutId xmlns:r="http://schemas.openxmlformats.org/officeDocument/2006/relationships" id="2147483653" r:id="Ra8c3bdd506c74378"/>
    <p:sldLayoutId xmlns:r="http://schemas.openxmlformats.org/officeDocument/2006/relationships" id="2147483654" r:id="R5bb76b6b2f33439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6b82ccf27b24127" /><Relationship Type="http://schemas.openxmlformats.org/officeDocument/2006/relationships/notesSlide" Target="/ppt/notesSlides/notesSlide1.xml" Id="R10c772a46acb466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0e1207834d4566" /><Relationship Type="http://schemas.openxmlformats.org/officeDocument/2006/relationships/notesSlide" Target="/ppt/notesSlides/notesSlide2.xml" Id="R9d9134599a584b4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54df7a01494e15" /><Relationship Type="http://schemas.openxmlformats.org/officeDocument/2006/relationships/notesSlide" Target="/ppt/notesSlides/notesSlide3.xml" Id="R8e0f9f90246b414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edde7eddbe94fed" /><Relationship Type="http://schemas.openxmlformats.org/officeDocument/2006/relationships/image" Target="/ppt/media/image.png" Id="Ra61472582cb846fa" /><Relationship Type="http://schemas.openxmlformats.org/officeDocument/2006/relationships/notesSlide" Target="/ppt/notesSlides/notesSlide4.xml" Id="R8104bfb10cdf4e8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8914402ded42f1" /><Relationship Type="http://schemas.openxmlformats.org/officeDocument/2006/relationships/image" Target="/ppt/media/image.jpeg" Id="R64e1b246510d4f41" /><Relationship Type="http://schemas.openxmlformats.org/officeDocument/2006/relationships/notesSlide" Target="/ppt/notesSlides/notesSlide5.xml" Id="Rc8d95a2832274d4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9fa82772274f65" /><Relationship Type="http://schemas.openxmlformats.org/officeDocument/2006/relationships/image" Target="/ppt/media/image2.png" Id="R941de592efb2403d" /><Relationship Type="http://schemas.openxmlformats.org/officeDocument/2006/relationships/notesSlide" Target="/ppt/notesSlides/notesSlide6.xml" Id="Rae4f601e99644f6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653274627084da6" /><Relationship Type="http://schemas.openxmlformats.org/officeDocument/2006/relationships/notesSlide" Target="/ppt/notesSlides/notesSlide7.xml" Id="R94c48ee9545d470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cf8267549f42bc" /><Relationship Type="http://schemas.openxmlformats.org/officeDocument/2006/relationships/notesSlide" Target="/ppt/notesSlides/notesSlide8.xml" Id="R448ff7c90b2e474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e2ef72a98484b0a" /><Relationship Type="http://schemas.openxmlformats.org/officeDocument/2006/relationships/notesSlide" Target="/ppt/notesSlides/notesSlide9.xml" Id="R59c2a4dedcb9457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d075ec3302410b" /><Relationship Type="http://schemas.openxmlformats.org/officeDocument/2006/relationships/notesSlide" Target="/ppt/notesSlides/notesSlide10.xml" Id="Rc1f81ac81d1944a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b46d281156441ae" /><Relationship Type="http://schemas.openxmlformats.org/officeDocument/2006/relationships/notesSlide" Target="/ppt/notesSlides/notesSlide11.xml" Id="Rd74fed3d56a0481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81a78f8b534dcb" /><Relationship Type="http://schemas.openxmlformats.org/officeDocument/2006/relationships/notesSlide" Target="/ppt/notesSlides/notesSlide12.xml" Id="Re084eaad5e9a45d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95A058-E25F-4772-B008-C12DEC05A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19075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BASES DE DATOS · PRÁCTICA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9577C5-D1C9-41B4-84CD-DC327A1A7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71500"/>
            <a:ext cx="8382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Sismos: proyecto asignado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ED006F-9890-4480-A819-F755A7E34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5730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Modelo Entidad–Relación Extendido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1FB051-A3B9-493B-BB36-8885C0FD6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196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3CV4 · Sismos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442605-1FFA-48C8-8726-B613732D3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819650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74486D-4CE9-452B-A135-F127A8FBF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085975"/>
            <a:ext cx="8191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244"/>
                </a:solidFill>
                <a:latin typeface="Arial"/>
                <a:ea typeface="Arial"/>
                <a:cs typeface="Arial"/>
              </a:rPr>
              <a:t>Damas Garnica Adrian</a:t>
            </a:r>
          </a:p>
          <a:p xmlns:a="http://schemas.openxmlformats.org/drawingml/2006/main">
            <a: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244"/>
                </a:solidFill>
                <a:latin typeface="Arial"/>
                <a:ea typeface="Arial"/>
                <a:cs typeface="Arial"/>
              </a:rPr>
              <a:t>Esparza Ramón Fernando Adán</a:t>
            </a:r>
          </a:p>
          <a:p xmlns:a="http://schemas.openxmlformats.org/drawingml/2006/main">
            <a: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244"/>
                </a:solidFill>
                <a:latin typeface="Arial"/>
                <a:ea typeface="Arial"/>
                <a:cs typeface="Arial"/>
              </a:rPr>
              <a:t>Ramos Padrón Jesus Emmanuel</a:t>
            </a:r>
          </a:p>
          <a:p xmlns:a="http://schemas.openxmlformats.org/drawingml/2006/main">
            <a: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244"/>
                </a:solidFill>
                <a:latin typeface="Arial"/>
                <a:ea typeface="Arial"/>
                <a:cs typeface="Arial"/>
              </a:rPr>
              <a:t>Hernandez Barrios Samuel Rodrigo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D13319-2433-49BF-9648-2C3C26741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229100"/>
            <a:ext cx="8286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Ingeniería en Sistemas Computacionales · 18 de 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196891488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147891-CFF2-4D34-B0B1-CD0C4D165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19075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BASES DE DATOS · PRÁCTICA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D900B5-5658-4B94-A146-A01D56C4B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71500"/>
            <a:ext cx="8382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Contenido del bloque asignado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622C71-D10F-4A48-9994-251AA607D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5730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Presentación independiente del proyecto de música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147534-5C0B-4317-8F85-530FC4C37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196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3CV4 · Sismos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257563-DF99-4584-9796-BBC43C5AC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819650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0380AB-12B1-4052-B2C4-B4E02CD36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857375"/>
            <a:ext cx="82391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244"/>
                </a:solidFill>
                <a:latin typeface="Arial"/>
                <a:ea typeface="Arial"/>
                <a:cs typeface="Arial"/>
              </a:rPr>
              <a:t>Problema y datos de Sismos.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F0238C-D917-43A6-A452-DFD45CA05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619375"/>
            <a:ext cx="82391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244"/>
                </a:solidFill>
                <a:latin typeface="Arial"/>
                <a:ea typeface="Arial"/>
                <a:cs typeface="Arial"/>
              </a:rPr>
              <a:t>Demo local, consulta SQL y EER conceptual.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E787CC-7B06-4B7A-B734-3B49630F2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381375"/>
            <a:ext cx="82391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244"/>
                </a:solidFill>
                <a:latin typeface="Arial"/>
                <a:ea typeface="Arial"/>
                <a:cs typeface="Arial"/>
              </a:rPr>
              <a:t>Correspondencia del esquema y propuestas del equipo.</a:t>
            </a:r>
          </a:p>
        </p:txBody>
      </p:sp>
    </p:spTree>
    <p:extLst>
      <p:ext uri="{BB962C8B-B14F-4D97-AF65-F5344CB8AC3E}">
        <p14:creationId xmlns:p14="http://schemas.microsoft.com/office/powerpoint/2010/main" val="79818820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A54C82-C92C-48EB-BD9F-8A4F33529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19075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BASES DE DATOS · PRÁCTICA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195685-DC4B-4625-9AEF-1DD5C8FA7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71500"/>
            <a:ext cx="8382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Sismos: del catálogo al análisis territorial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A8E231-D017-434D-A7E5-09BE14B80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5730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Proyecto asignado: Seismic Data Visualization System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3831C1-4EED-417C-BBD7-E51863522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196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3CV4 · Sismos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CDD928-0453-4D1B-9859-BE6A9B43D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819650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5CE73A-B6DA-432F-B0D3-D7F07221F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847850"/>
            <a:ext cx="8239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244"/>
                </a:solidFill>
                <a:latin typeface="Arial"/>
                <a:ea typeface="Arial"/>
                <a:cs typeface="Arial"/>
              </a:rPr>
              <a:t>Pregunta: ¿cómo relacionar los eventos con la población y la economía de una entidad?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B4E139-5E64-40CA-9D5C-2B750B900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686050"/>
            <a:ext cx="8239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244"/>
                </a:solidFill>
                <a:latin typeface="Arial"/>
                <a:ea typeface="Arial"/>
                <a:cs typeface="Arial"/>
              </a:rPr>
              <a:t>El almacén combina sismos, tiempo, zonas y economía en un hecho de impacto.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30ACAC-ECD7-47C6-974B-A0FFED61C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524250"/>
            <a:ext cx="8239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244"/>
                </a:solidFill>
                <a:latin typeface="Arial"/>
                <a:ea typeface="Arial"/>
                <a:cs typeface="Arial"/>
              </a:rPr>
              <a:t>La interpretación exige conservar el grano, las unidades y la procedencia de los valores.</a:t>
            </a:r>
          </a:p>
        </p:txBody>
      </p:sp>
    </p:spTree>
    <p:extLst>
      <p:ext uri="{BB962C8B-B14F-4D97-AF65-F5344CB8AC3E}">
        <p14:creationId xmlns:p14="http://schemas.microsoft.com/office/powerpoint/2010/main" val="30924174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0A7CC9-EA51-46E5-8EF5-0528FC1E5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19075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BASES DE DATOS · PRÁCTICA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9A063C-5F30-4020-8A25-150D14B7C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71500"/>
            <a:ext cx="8382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Evidencia histórica de consulta SQL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08D03D-4896-44F2-AE99-5AF0D7926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5730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La captura conservada devuelve cinco filas de dim_sismos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5A0269-737D-4AB7-9080-CC2C86749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196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3CV4 · Sismos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72905F-4DF3-4299-B896-77759F923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819650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DECEE7-6796-412D-95AA-60BA21207D9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1472582cb846fa"/>
          <a:stretch xmlns:a="http://schemas.openxmlformats.org/drawingml/2006/main"/>
        </p:blipFill>
        <p:spPr>
          <a:xfrm xmlns:a="http://schemas.openxmlformats.org/drawingml/2006/main">
            <a:off x="2246929" y="1704975"/>
            <a:ext cx="4650142" cy="29051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341689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085B44-7EA4-4D09-B2ED-1ED7B50A7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19075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BASES DE DATOS · PRÁCTICA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ECDFC4-9ECE-49B0-A481-275C9A0E0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71500"/>
            <a:ext cx="8382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Demo local con datos cargados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85C134-EB35-4749-8A95-500050666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5730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18/10/2026 · Año 2020, magnitud mínima 6: tres eventos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42DAE2-F641-411F-B797-85516030D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196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3CV4 · Sismos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C34A37-13EE-4FEB-8E0C-557163754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819650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99D50C-A69A-401A-8321-637E6C4F66B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e1b246510d4f41"/>
          <a:stretch xmlns:a="http://schemas.openxmlformats.org/drawingml/2006/main"/>
        </p:blipFill>
        <p:spPr>
          <a:xfrm xmlns:a="http://schemas.openxmlformats.org/drawingml/2006/main">
            <a:off x="2092791" y="1781175"/>
            <a:ext cx="4958418" cy="27908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67447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955A82-CF51-4D85-83B6-72F11FF18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19075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BASES DE DATOS · PRÁCTICA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38A17E-7216-4012-9C91-DADDE76A0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71500"/>
            <a:ext cx="8382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Modelo conceptual del proyecto asignado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78E3E8-04C3-4A97-8D9A-19A3314DE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5730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Sismos y censos dependen de su contexto territorial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A00D1D-3729-460E-8AFE-9C4D1FB21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196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3CV4 · Sismos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8A05BF-1175-48EA-A4F3-ED29CE97D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819650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73F185-6110-4A69-ADB5-EDBF52BA920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1de592efb2403d"/>
          <a:stretch xmlns:a="http://schemas.openxmlformats.org/drawingml/2006/main"/>
        </p:blipFill>
        <p:spPr>
          <a:xfrm xmlns:a="http://schemas.openxmlformats.org/drawingml/2006/main">
            <a:off x="1682346" y="1619250"/>
            <a:ext cx="5779309" cy="3000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58330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1780E8-8361-4768-8AAC-9746C3561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19075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BASES DE DATOS · PRÁCTICA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9745E0-2D20-4F32-9868-C88C0ECCA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71500"/>
            <a:ext cx="8382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Correspondencia con el almacén publicado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95E3DE-ED36-4E97-A06F-5E0E88D0C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5730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El modelo conceptual expresa reglas que el esquema físico puede perder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A35A0B-ECCD-4BF5-A264-3F14173A5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196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3CV4 · Sismos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2BB19B-BA10-4CC7-8122-FB780F3D9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819650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CE1073-8C33-4BB6-9703-94600073D395}"/>
              </a:ext>
            </a:extLst>
          </p:cNvPr>
          <p:cNvGraphicFramePr/>
          <p:nvPr/>
        </p:nvGraphicFramePr>
        <p:xfrm>
          <a:off xmlns:a="http://schemas.openxmlformats.org/drawingml/2006/main" x="381000" y="1809750"/>
          <a:ext xmlns:a="http://schemas.openxmlformats.org/drawingml/2006/main" cx="8382000" cy="2714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28875"/>
                <a:gridCol w="2762250"/>
                <a:gridCol w="3190875"/>
              </a:tblGrid>
              <a:tr h="45243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Dominio conceptual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D4DADF"/>
                      </a:solidFill>
                      <a:prstDash val="solid"/>
                    </a:lnL>
                    <a:lnR w="4763">
                      <a:solidFill>
                        <a:srgbClr val="D4DADF"/>
                      </a:solidFill>
                      <a:prstDash val="solid"/>
                    </a:lnR>
                    <a:lnT w="4763">
                      <a:solidFill>
                        <a:srgbClr val="D4DADF"/>
                      </a:solidFill>
                      <a:prstDash val="solid"/>
                    </a:lnT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802D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Tabla publicada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D4DADF"/>
                      </a:solidFill>
                      <a:prstDash val="solid"/>
                    </a:lnR>
                    <a:lnT w="4763">
                      <a:solidFill>
                        <a:srgbClr val="D4DADF"/>
                      </a:solidFill>
                      <a:prstDash val="solid"/>
                    </a:lnT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802D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Punto para explicar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D4DADF"/>
                      </a:solidFill>
                      <a:prstDash val="solid"/>
                    </a:lnR>
                    <a:lnT w="4763">
                      <a:solidFill>
                        <a:srgbClr val="D4DADF"/>
                      </a:solidFill>
                      <a:prstDash val="solid"/>
                    </a:lnT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802D42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244"/>
                          </a:solidFill>
                          <a:latin typeface="Arial"/>
                          <a:ea typeface="Arial"/>
                          <a:cs typeface="Arial"/>
                        </a:rPr>
                        <a:t>SISMO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D4DADF"/>
                      </a:solidFill>
                      <a:prstDash val="solid"/>
                    </a:lnL>
                    <a:lnR w="4763">
                      <a:solidFill>
                        <a:srgbClr val="D4DADF"/>
                      </a:solidFill>
                      <a:prstDash val="solid"/>
                    </a:lnR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EAED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244"/>
                          </a:solidFill>
                          <a:latin typeface="Arial"/>
                          <a:ea typeface="Arial"/>
                          <a:cs typeface="Arial"/>
                        </a:rPr>
                        <a:t>dim_sismos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D4DADF"/>
                      </a:solidFill>
                      <a:prstDash val="solid"/>
                    </a:lnR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EAED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244"/>
                          </a:solidFill>
                          <a:latin typeface="Arial"/>
                          <a:ea typeface="Arial"/>
                          <a:cs typeface="Arial"/>
                        </a:rPr>
                        <a:t>Estado abreviado y nombre redundantes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D4DADF"/>
                      </a:solidFill>
                      <a:prstDash val="solid"/>
                    </a:lnR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EAEDEF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244"/>
                          </a:solidFill>
                          <a:latin typeface="Arial"/>
                          <a:ea typeface="Arial"/>
                          <a:cs typeface="Arial"/>
                        </a:rPr>
                        <a:t>Fecha del evento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D4DADF"/>
                      </a:solidFill>
                      <a:prstDash val="solid"/>
                    </a:lnL>
                    <a:lnR w="4763">
                      <a:solidFill>
                        <a:srgbClr val="D4DADF"/>
                      </a:solidFill>
                      <a:prstDash val="solid"/>
                    </a:lnR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244"/>
                          </a:solidFill>
                          <a:latin typeface="Arial"/>
                          <a:ea typeface="Arial"/>
                          <a:cs typeface="Arial"/>
                        </a:rPr>
                        <a:t>dim_tiempo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D4DADF"/>
                      </a:solidFill>
                      <a:prstDash val="solid"/>
                    </a:lnR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244"/>
                          </a:solidFill>
                          <a:latin typeface="Arial"/>
                          <a:ea typeface="Arial"/>
                          <a:cs typeface="Arial"/>
                        </a:rPr>
                        <a:t>Dimensión separada para análisis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D4DADF"/>
                      </a:solidFill>
                      <a:prstDash val="solid"/>
                    </a:lnR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244"/>
                          </a:solidFill>
                          <a:latin typeface="Arial"/>
                          <a:ea typeface="Arial"/>
                          <a:cs typeface="Arial"/>
                        </a:rPr>
                        <a:t>Entidad / censo poblacional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D4DADF"/>
                      </a:solidFill>
                      <a:prstDash val="solid"/>
                    </a:lnL>
                    <a:lnR w="4763">
                      <a:solidFill>
                        <a:srgbClr val="D4DADF"/>
                      </a:solidFill>
                      <a:prstDash val="solid"/>
                    </a:lnR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EAED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244"/>
                          </a:solidFill>
                          <a:latin typeface="Arial"/>
                          <a:ea typeface="Arial"/>
                          <a:cs typeface="Arial"/>
                        </a:rPr>
                        <a:t>dim_zonas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D4DADF"/>
                      </a:solidFill>
                      <a:prstDash val="solid"/>
                    </a:lnR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EAED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244"/>
                          </a:solidFill>
                          <a:latin typeface="Arial"/>
                          <a:ea typeface="Arial"/>
                          <a:cs typeface="Arial"/>
                        </a:rPr>
                        <a:t>Año censal no conservado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D4DADF"/>
                      </a:solidFill>
                      <a:prstDash val="solid"/>
                    </a:lnR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EAEDEF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244"/>
                          </a:solidFill>
                          <a:latin typeface="Arial"/>
                          <a:ea typeface="Arial"/>
                          <a:cs typeface="Arial"/>
                        </a:rPr>
                        <a:t>Censo económico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D4DADF"/>
                      </a:solidFill>
                      <a:prstDash val="solid"/>
                    </a:lnL>
                    <a:lnR w="4763">
                      <a:solidFill>
                        <a:srgbClr val="D4DADF"/>
                      </a:solidFill>
                      <a:prstDash val="solid"/>
                    </a:lnR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244"/>
                          </a:solidFill>
                          <a:latin typeface="Arial"/>
                          <a:ea typeface="Arial"/>
                          <a:cs typeface="Arial"/>
                        </a:rPr>
                        <a:t>dim_economia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D4DADF"/>
                      </a:solidFill>
                      <a:prstDash val="solid"/>
                    </a:lnR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244"/>
                          </a:solidFill>
                          <a:latin typeface="Arial"/>
                          <a:ea typeface="Arial"/>
                          <a:cs typeface="Arial"/>
                        </a:rPr>
                        <a:t>Edición censal no conservada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D4DADF"/>
                      </a:solidFill>
                      <a:prstDash val="solid"/>
                    </a:lnR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244"/>
                          </a:solidFill>
                          <a:latin typeface="Arial"/>
                          <a:ea typeface="Arial"/>
                          <a:cs typeface="Arial"/>
                        </a:rPr>
                        <a:t>Relación de impacto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D4DADF"/>
                      </a:solidFill>
                      <a:prstDash val="solid"/>
                    </a:lnL>
                    <a:lnR w="4763">
                      <a:solidFill>
                        <a:srgbClr val="D4DADF"/>
                      </a:solidFill>
                      <a:prstDash val="solid"/>
                    </a:lnR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EAED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244"/>
                          </a:solidFill>
                          <a:latin typeface="Arial"/>
                          <a:ea typeface="Arial"/>
                          <a:cs typeface="Arial"/>
                        </a:rPr>
                        <a:t>fact_impacto_sismos_imputed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D4DADF"/>
                      </a:solidFill>
                      <a:prstDash val="solid"/>
                    </a:lnR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EAED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244"/>
                          </a:solidFill>
                          <a:latin typeface="Arial"/>
                          <a:ea typeface="Arial"/>
                          <a:cs typeface="Arial"/>
                        </a:rPr>
                        <a:t>Hecho sin PK declarada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D4DADF"/>
                      </a:solidFill>
                      <a:prstDash val="solid"/>
                    </a:lnR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EAEDE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238156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634909-6912-4720-8C47-5381E44ED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19075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BASES DE DATOS · PRÁCTICA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CCA228-9ED2-4294-AD84-B45CD64E0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71500"/>
            <a:ext cx="8382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Tres propuestas registradas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4AE6A4-329F-473C-934E-CA9055A56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5730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Hernandez Barrios Samuel Rodrigo · Issues #2, #3 y #4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001FC5-D4E8-44A1-ABE0-82933F627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196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3CV4 · Sismos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AC7536-405B-4FD2-B6BB-AFC7E18B9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819650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04E32F-F569-409C-A031-E7F53231A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828800"/>
            <a:ext cx="828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P01  Réplicas y secuencias sísmicas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421F08-AF4B-419D-A8D8-9E94B0D08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171700"/>
            <a:ext cx="828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SISMO: principal / SISMO: réplica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C79A6B-1E4F-47AD-B9F4-30E7B2597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733675"/>
            <a:ext cx="828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P02  Placas tectónicas como contexto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4592C7-D330-4BAC-ACAB-5BE8D77E1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076575"/>
            <a:ext cx="828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SISMO / PLACA_TECTONICA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72C9F9-7AD3-45C1-92F8-8B8F676C8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638550"/>
            <a:ext cx="828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P03  Municipios y localidades expuestas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116EFC-654F-4918-9F02-0072DF1E3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981450"/>
            <a:ext cx="828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SISMO / LOCALIDAD</a:t>
            </a:r>
          </a:p>
        </p:txBody>
      </p:sp>
    </p:spTree>
    <p:extLst>
      <p:ext uri="{BB962C8B-B14F-4D97-AF65-F5344CB8AC3E}">
        <p14:creationId xmlns:p14="http://schemas.microsoft.com/office/powerpoint/2010/main" val="3579046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C801AF-E109-436B-A325-097580C81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19075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BASES DE DATOS · PRÁCTICA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F20DA5-BFFD-431E-9711-D97ECC3A0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71500"/>
            <a:ext cx="8382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Tres propuestas para validar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6EFDF9-4E87-4F9A-9A32-9D2C16D93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5730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Damas Garnica Adrian · Revisor sugerido, pendiente de aceptación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B63B55-DEF4-4CE0-BA1B-ECF0C9453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196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3CV4 · Sismos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3F6C7B-809C-47AA-904D-E20F792D5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819650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E3911F-DD0C-438B-90DF-866A54FE7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828800"/>
            <a:ext cx="828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P04  Identidad territorial consistente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254DD7-0747-4DB5-8D65-B73E11CC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171700"/>
            <a:ext cx="828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ENTIDAD_FEDERATIVA / IDENTIFICADOR_TERRITORIAL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D56CD9-A576-495E-B16B-BB6815530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733675"/>
            <a:ext cx="828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P05  Ediciones censales comparables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CA4191-A355-4F3C-A5D7-0BA7F7BCC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076575"/>
            <a:ext cx="828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CENSO_POBLACION / EDICION_CENSAL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1F4442-14CB-4E41-BEAC-AC89BBCFF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638550"/>
            <a:ext cx="828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P06  Trazabilidad de valores imputados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0163BC-0CC9-4248-961C-6881853D9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981450"/>
            <a:ext cx="828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[SISMO - IMPACTA - ENTIDAD] / REGISTRO_IMPUTACION</a:t>
            </a:r>
          </a:p>
        </p:txBody>
      </p:sp>
    </p:spTree>
    <p:extLst>
      <p:ext uri="{BB962C8B-B14F-4D97-AF65-F5344CB8AC3E}">
        <p14:creationId xmlns:p14="http://schemas.microsoft.com/office/powerpoint/2010/main" val="82468936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63E2F6-300B-4A70-9509-2C5B2AD54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19075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BASES DE DATOS · PRÁCTICA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615B54-B2A8-4B74-8F55-8E5D65B60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71500"/>
            <a:ext cx="8382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Tres propuestas para validar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272A6D-F420-4FF5-B6AF-676849EFE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5730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Esparza Ramón Fernando Adán · Revisor sugerido, pendiente de aceptación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801FDF-8F50-43EA-9D58-D38D29A5A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196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3CV4 · Sismos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7FFED1-0C99-49D2-8A27-DCEB33802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819650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A3DFFC-8867-407B-8FA5-574F2E939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828800"/>
            <a:ext cx="828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P07  Procedencia y lotes de carga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0666EF-6F7A-403F-8437-2F600853D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171700"/>
            <a:ext cx="828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SISMO / LOTE_CARGA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52FFD8-5356-4EA6-81C9-1B6F65CCE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733675"/>
            <a:ext cx="828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P08  Historial de correcciones manuales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36AFD3-2C63-4820-85D6-CB33A9E49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076575"/>
            <a:ext cx="828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SISMO / REVISION_DATO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864BAB-CEA8-4EE6-9255-1979FCE30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638550"/>
            <a:ext cx="828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P09  Evaluación de calidad de registros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FC0352-A562-4ED2-8E05-DDEFB3E22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981450"/>
            <a:ext cx="828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SISMO / EVALUACION_CALIDAD</a:t>
            </a:r>
          </a:p>
        </p:txBody>
      </p:sp>
    </p:spTree>
    <p:extLst>
      <p:ext uri="{BB962C8B-B14F-4D97-AF65-F5344CB8AC3E}">
        <p14:creationId xmlns:p14="http://schemas.microsoft.com/office/powerpoint/2010/main" val="210591836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CC7ACB-C206-4DC5-B93A-7F964083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19075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BASES DE DATOS · PRÁCTICA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EF2E0C-D518-4218-9672-60586518E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71500"/>
            <a:ext cx="8382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Tres propuestas para validar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B43D1C-AF09-41D1-BF13-0AD3386A5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5730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Ramos Padrón Jesus Emmanuel · Revisor sugerido, pendiente de aceptación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1B1339-6B6E-4A4E-82B1-971809865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196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3CV4 · Sismos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C123D9-2459-4E6C-BB85-820155BA1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819650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66C604-CA8A-4E51-8ED7-96A45CB10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828800"/>
            <a:ext cx="828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P10  Comparación de escenarios de impacto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02CBE6-4DAE-44C3-BF23-EFC396676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171700"/>
            <a:ext cx="828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SISMO / RESULTADO_ESCENARIO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16AB1B-42F1-45A3-9D04-341325FCA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733675"/>
            <a:ext cx="828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P11  Observaciones por estación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B0B76F-1EAF-4425-BADE-472253395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076575"/>
            <a:ext cx="828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SISMO / OBSERVACION_INSTRUMENTAL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886371-51FC-41D5-814E-805BD923C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638550"/>
            <a:ext cx="828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P12  Alertas por criterios configurables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C3B187-F4FC-44DE-8286-3A59487FC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981450"/>
            <a:ext cx="828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SISMO / ALERTA_GENERADA</a:t>
            </a:r>
          </a:p>
        </p:txBody>
      </p:sp>
    </p:spTree>
    <p:extLst>
      <p:ext uri="{BB962C8B-B14F-4D97-AF65-F5344CB8AC3E}">
        <p14:creationId xmlns:p14="http://schemas.microsoft.com/office/powerpoint/2010/main" val="64856520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FAAE4B-828D-4303-AEE9-89ADBBFC8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19075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BASES DE DATOS · PRÁCTICA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275417-C40F-47E1-BDC1-278A7C54A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71500"/>
            <a:ext cx="8382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Estado de la entrega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EF41C4-1EB5-4BCF-9B60-C38761244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5730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Documentación recuperada y evidencias actuales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DB42FF-6A73-4420-BDF0-87C8A4151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196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3CV4 · Sismos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97D047-7EFD-42A8-A166-B1D2317E7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819650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4A4D93-BF4A-48ED-B70A-5B348D169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857375"/>
            <a:ext cx="8239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244"/>
                </a:solidFill>
                <a:latin typeface="Arial"/>
                <a:ea typeface="Arial"/>
                <a:cs typeface="Arial"/>
              </a:rPr>
              <a:t>Demo local y consulta SQL comprobadas.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7CBE3D-1629-4C33-80D8-2A57ADBEB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676525"/>
            <a:ext cx="8239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244"/>
                </a:solidFill>
                <a:latin typeface="Arial"/>
                <a:ea typeface="Arial"/>
                <a:cs typeface="Arial"/>
              </a:rPr>
              <a:t>Doce propuestas documentadas; nueve por validar.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930F35-C6F8-4DD2-82D7-EFBCBC044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495675"/>
            <a:ext cx="8239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244"/>
                </a:solidFill>
                <a:latin typeface="Arial"/>
                <a:ea typeface="Arial"/>
                <a:cs typeface="Arial"/>
              </a:rPr>
              <a:t>Pendiente: captura de terminal, issues y revisión del compañero.</a:t>
            </a:r>
          </a:p>
        </p:txBody>
      </p:sp>
    </p:spTree>
    <p:extLst>
      <p:ext uri="{BB962C8B-B14F-4D97-AF65-F5344CB8AC3E}">
        <p14:creationId xmlns:p14="http://schemas.microsoft.com/office/powerpoint/2010/main" val="143322729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2026-10-18T17:24:43.8610000Z</dcterms:created>
  <dcterms:modified xsi:type="dcterms:W3CDTF">2026-10-18T17:24:43.8610000Z</dcterms:modified>
</coreProperties>
</file>