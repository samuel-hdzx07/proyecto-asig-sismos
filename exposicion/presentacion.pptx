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cb30e6acf24725" /><Relationship Type="http://schemas.openxmlformats.org/officeDocument/2006/relationships/extended-properties" Target="/docProps/app.xml" Id="Rf9e2c8b3c1914229" /><Relationship Type="http://schemas.openxmlformats.org/officeDocument/2006/relationships/officeDocument" Target="/ppt/presentation.xml" Id="R349eeef69aa34c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eb22bc2e294786"/>
  </p:sldMasterIdLst>
  <p:notesMasterIdLst>
    <p:notesMasterId xmlns:r="http://schemas.openxmlformats.org/officeDocument/2006/relationships" r:id="Ra87101cb85a64507"/>
  </p:notesMasterIdLst>
  <p:sldIdLst>
    <p:sldId xmlns:r="http://schemas.openxmlformats.org/officeDocument/2006/relationships" id="256" r:id="Rac7713136c3546df"/>
    <p:sldId xmlns:r="http://schemas.openxmlformats.org/officeDocument/2006/relationships" id="257" r:id="R9285a227e3d94258"/>
    <p:sldId xmlns:r="http://schemas.openxmlformats.org/officeDocument/2006/relationships" id="258" r:id="R9420e4b215f14f71"/>
    <p:sldId xmlns:r="http://schemas.openxmlformats.org/officeDocument/2006/relationships" id="259" r:id="Rb24ef35b68ca4b5e"/>
    <p:sldId xmlns:r="http://schemas.openxmlformats.org/officeDocument/2006/relationships" id="260" r:id="R4d02bfe421534c42"/>
    <p:sldId xmlns:r="http://schemas.openxmlformats.org/officeDocument/2006/relationships" id="261" r:id="R7c3d4459975f431c"/>
    <p:sldId xmlns:r="http://schemas.openxmlformats.org/officeDocument/2006/relationships" id="262" r:id="Rf8112fa532774068"/>
    <p:sldId xmlns:r="http://schemas.openxmlformats.org/officeDocument/2006/relationships" id="263" r:id="R42904302af664d30"/>
    <p:sldId xmlns:r="http://schemas.openxmlformats.org/officeDocument/2006/relationships" id="264" r:id="Re1f8af7b4a734966"/>
    <p:sldId xmlns:r="http://schemas.openxmlformats.org/officeDocument/2006/relationships" id="265" r:id="Rd7f3410899e44399"/>
    <p:sldId xmlns:r="http://schemas.openxmlformats.org/officeDocument/2006/relationships" id="266" r:id="R6aab5ff744a942e9"/>
    <p:sldId xmlns:r="http://schemas.openxmlformats.org/officeDocument/2006/relationships" id="267" r:id="R1c77bfb1abca4d90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428db5af024c92" /><Relationship Type="http://schemas.openxmlformats.org/officeDocument/2006/relationships/slideMaster" Target="/ppt/slideMasters/slideMaster1.xml" Id="R6beb22bc2e294786" /><Relationship Type="http://schemas.openxmlformats.org/officeDocument/2006/relationships/notesMaster" Target="/ppt/notesMasters/notesMaster1.xml" Id="Ra87101cb85a64507" /><Relationship Type="http://schemas.openxmlformats.org/officeDocument/2006/relationships/presProps" Target="/ppt/presProps.xml" Id="R6a655bbb9d254558" /><Relationship Type="http://schemas.openxmlformats.org/officeDocument/2006/relationships/tableStyles" Target="/ppt/tableStyles.xml" Id="Re827e03044734ea3" /><Relationship Type="http://schemas.openxmlformats.org/officeDocument/2006/relationships/slide" Target="/ppt/slides/slide1.xml" Id="Rac7713136c3546df" /><Relationship Type="http://schemas.openxmlformats.org/officeDocument/2006/relationships/slide" Target="/ppt/slides/slide2.xml" Id="R9285a227e3d94258" /><Relationship Type="http://schemas.openxmlformats.org/officeDocument/2006/relationships/slide" Target="/ppt/slides/slide3.xml" Id="R9420e4b215f14f71" /><Relationship Type="http://schemas.openxmlformats.org/officeDocument/2006/relationships/slide" Target="/ppt/slides/slide4.xml" Id="Rb24ef35b68ca4b5e" /><Relationship Type="http://schemas.openxmlformats.org/officeDocument/2006/relationships/slide" Target="/ppt/slides/slide5.xml" Id="R4d02bfe421534c42" /><Relationship Type="http://schemas.openxmlformats.org/officeDocument/2006/relationships/slide" Target="/ppt/slides/slide6.xml" Id="R7c3d4459975f431c" /><Relationship Type="http://schemas.openxmlformats.org/officeDocument/2006/relationships/slide" Target="/ppt/slides/slide7.xml" Id="Rf8112fa532774068" /><Relationship Type="http://schemas.openxmlformats.org/officeDocument/2006/relationships/slide" Target="/ppt/slides/slide8.xml" Id="R42904302af664d30" /><Relationship Type="http://schemas.openxmlformats.org/officeDocument/2006/relationships/slide" Target="/ppt/slides/slide9.xml" Id="Re1f8af7b4a734966" /><Relationship Type="http://schemas.openxmlformats.org/officeDocument/2006/relationships/slide" Target="/ppt/slides/slide10.xml" Id="Rd7f3410899e44399" /><Relationship Type="http://schemas.openxmlformats.org/officeDocument/2006/relationships/slide" Target="/ppt/slides/slide11.xml" Id="R6aab5ff744a942e9" /><Relationship Type="http://schemas.openxmlformats.org/officeDocument/2006/relationships/slide" Target="/ppt/slides/slide12.xml" Id="R1c77bfb1abca4d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7f980290bf45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abf190455f46fe" /><Relationship Type="http://schemas.openxmlformats.org/officeDocument/2006/relationships/notesMaster" Target="/ppt/notesMasters/notesMaster1.xml" Id="R11d9d56bf2a14d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5c46b6b4ba4483" /><Relationship Type="http://schemas.openxmlformats.org/officeDocument/2006/relationships/notesMaster" Target="/ppt/notesMasters/notesMaster1.xml" Id="Ra5a7136a0c0248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6ea80d0fa34b03" /><Relationship Type="http://schemas.openxmlformats.org/officeDocument/2006/relationships/notesMaster" Target="/ppt/notesMasters/notesMaster1.xml" Id="R2b5099ca096940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50276c4a974752" /><Relationship Type="http://schemas.openxmlformats.org/officeDocument/2006/relationships/notesMaster" Target="/ppt/notesMasters/notesMaster1.xml" Id="R116b640947e44c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1c46b3e21a46cb" /><Relationship Type="http://schemas.openxmlformats.org/officeDocument/2006/relationships/notesMaster" Target="/ppt/notesMasters/notesMaster1.xml" Id="Rab86bc9e4c834a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e94353a9764c61" /><Relationship Type="http://schemas.openxmlformats.org/officeDocument/2006/relationships/notesMaster" Target="/ppt/notesMasters/notesMaster1.xml" Id="R3aa5b713bfa643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6a04e12c5e463b" /><Relationship Type="http://schemas.openxmlformats.org/officeDocument/2006/relationships/notesMaster" Target="/ppt/notesMasters/notesMaster1.xml" Id="Re6d5c2974ce44e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3653c680bf4633" /><Relationship Type="http://schemas.openxmlformats.org/officeDocument/2006/relationships/notesMaster" Target="/ppt/notesMasters/notesMaster1.xml" Id="Rb1c1ab23fed44e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04cd627c7d4e93" /><Relationship Type="http://schemas.openxmlformats.org/officeDocument/2006/relationships/notesMaster" Target="/ppt/notesMasters/notesMaster1.xml" Id="Rd53bfa1848724c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2c312aaa0942fe" /><Relationship Type="http://schemas.openxmlformats.org/officeDocument/2006/relationships/notesMaster" Target="/ppt/notesMasters/notesMaster1.xml" Id="R0e8d85f330304a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80832d244d4f5c" /><Relationship Type="http://schemas.openxmlformats.org/officeDocument/2006/relationships/notesMaster" Target="/ppt/notesMasters/notesMaster1.xml" Id="Rc14e135deb584d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0370ab2d034822" /><Relationship Type="http://schemas.openxmlformats.org/officeDocument/2006/relationships/notesMaster" Target="/ppt/notesMasters/notesMaster1.xml" Id="R34021ca667be46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Codex (OpenAI): apoyo en la elaboración del proyecto. Las propuestas P04–P12 siguen pendientes de validación.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presentación contiene solo Sismos. El tiempo total de 12–15 minutos que pide la consigna también incluye el proyecto propio, ahora separado en BD-Proyecto-Musica. Repartir las propuestas después de confirmar el equipo y validar sus borradores.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fork Samuel-Hdzx07/Seismic-Data-Visualization-System, commit 8569667cf4f46fab640dba3f82a7b324ca7efaf7. DDL sql/00-datawarehouse_tables.sql. Artículo Cuando México tiembla, DOI 10.24275/AZC2026E1004.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histórica del levantamiento documentado el 26/09/2026, no una ejecución nueva. SELECT * FROM dim_sismos LIMIT 5. Explicar magnitud, coordenadas, profundidad y estado. La consulta se repitió el 18/10/2026 y confirmó 319592 filas totales. Ver levantamiento.md y el registro actual. La imagen mostrada sigue siendo la captura histórica.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del 18/10/2026. El filtro pasó de 21 eventos con magnitud mínima 5 a 3 con magnitud mínima 6. La base respondió con 319592 filas en dim_sismos. Comandos reales en capturas/ejecucion-2026-10-18.txt. Sigue pendiente una captura auténtica del arranque en terminal. Los indicadores de población son resultados de la aplicación y no equivalen a personas damnificadas observadas.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SISMO, ENTIDAD_FEDERATIVA, CENSO_POBLACION y CENSO_ECONOMICO. Los censos son entidades débiles: entidad propietaria y año censal identifican cada registro. Fuente: proyecto-asignado/eer.png y correspondencia-con-el-esquema.pdf.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Contraste con DDL del commit 8569667cf4f46fab640dba3f82a7b324ca7efaf7. No presentar el esquema estrella como si fuera el modelo conceptual. El PDF de correspondencia contiene el análisis 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P01 Réplicas y secuencias sísmicas</a:t>
            </a:r>
          </a:p>
          <a:p xmlns:a="http://schemas.openxmlformats.org/drawingml/2006/main">
            <a:r>
              <a:t>Estado: Registrada / issue #1</a:t>
            </a:r>
          </a:p>
          <a:p xmlns:a="http://schemas.openxmlformats.org/drawingml/2006/main">
            <a:r>
              <a:t>Necesidad: El modelo actual representa los sismos como eventos aislados y no conserva qué evento se considera réplica de otro.</a:t>
            </a:r>
          </a:p>
          <a:p xmlns:a="http://schemas.openxmlformats.org/drawingml/2006/main">
            <a:r>
              <a:t>Función: Un analista selecciona un sismo principal y consulta sus réplicas, distancias e intervalos. La ventana temporal y el radio de búsqueda son configurables.</a:t>
            </a:r>
          </a:p>
          <a:p xmlns:a="http://schemas.openxmlformats.org/drawingml/2006/main">
            <a:r>
              <a:t>Modelo: Relación recursiva ES_REPLICA_DE sobre SISMO: principal (0,N), réplica (0,1). intervalo_horas y distancia_km son derivados. El criterio de asignación debe documentarse como una regla operativa, no como una clasificación sismológica definitiva.</a:t>
            </a:r>
          </a:p>
          <a:p xmlns:a="http://schemas.openxmlformats.org/drawingml/2006/main">
            <a:r>
              <a:t>Sustento: Propuesta existente en el issue #1 y en el documento original. Atiende la necesidad identificada al contrastar los usos del artículo con el modelo.</a:t>
            </a:r>
          </a:p>
          <a:p xmlns:a="http://schemas.openxmlformats.org/drawingml/2006/main">
            <a:r>
              <a:t>Dificultad: Media: comparar eventos por tiempo, distancia y magnitud, resolver candidatos y validar el resultado.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P02 Placas tectónicas como contexto</a:t>
            </a:r>
          </a:p>
          <a:p xmlns:a="http://schemas.openxmlformats.org/drawingml/2006/main">
            <a:r>
              <a:t>Estado: Registrada / issue #2</a:t>
            </a:r>
          </a:p>
          <a:p xmlns:a="http://schemas.openxmlformats.org/drawingml/2006/main">
            <a:r>
              <a:t>Necesidad: El catálogo no conserva la placa asociada al epicentro ni el contexto de sus límites.</a:t>
            </a:r>
          </a:p>
          <a:p xmlns:a="http://schemas.openxmlformats.org/drawingml/2006/main">
            <a:r>
              <a:t>Función: Un usuario consulta eventos por placa y compara magnitudes y profundidades por región tectónica.</a:t>
            </a:r>
          </a:p>
          <a:p xmlns:a="http://schemas.openxmlformats.org/drawingml/2006/main">
            <a:r>
              <a:t>Modelo: PLACA_TECTONICA con identificador, nombre y geometría; SISMO (0,1) - OCURRE_EN - PLACA_TECTONICA (0,N). INTERACTUA_CON relaciona placas y guarda tipo_limite.</a:t>
            </a:r>
          </a:p>
          <a:p xmlns:a="http://schemas.openxmlformats.org/drawingml/2006/main">
            <a:r>
              <a:t>Sustento: Propuesta existente en el issue #2. La figura de placas del artículo y la necesidad de incorporar fuentes adicionales motivan la ampliación.</a:t>
            </a:r>
          </a:p>
          <a:p xmlns:a="http://schemas.openxmlformats.org/drawingml/2006/main">
            <a:r>
              <a:t>Dificultad: Media: obtener una fuente geográfica adecuada, documentar su precisión y resolver puntos cercanos a fronteras.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P03 Municipios y localidades expuestas</a:t>
            </a:r>
          </a:p>
          <a:p xmlns:a="http://schemas.openxmlformats.org/drawingml/2006/main">
            <a:r>
              <a:t>Estado: Registrada / issue #3</a:t>
            </a:r>
          </a:p>
          <a:p xmlns:a="http://schemas.openxmlformats.org/drawingml/2006/main">
            <a:r>
              <a:t>Necesidad: La información territorial disponible se agrega por entidad federativa y no permite distinguir localidades cercanas a un epicentro.</a:t>
            </a:r>
          </a:p>
          <a:p xmlns:a="http://schemas.openxmlformats.org/drawingml/2006/main">
            <a:r>
              <a:t>Función: Protección civil consulta localidades dentro de un radio, con población y distancia, agrupadas por municipio.</a:t>
            </a:r>
          </a:p>
          <a:p xmlns:a="http://schemas.openxmlformats.org/drawingml/2006/main">
            <a:r>
              <a:t>Modelo: MUNICIPIO depende de ENTIDAD_FEDERATIVA y LOCALIDAD de MUNICIPIO. EXPUESTA_A relaciona SISMO y LOCALIDAD en M:N; distancia_epicentro_km es derivada.</a:t>
            </a:r>
          </a:p>
          <a:p xmlns:a="http://schemas.openxmlformats.org/drawingml/2006/main">
            <a:r>
              <a:t>Sustento: Issue #3 y hallazgo comprobable en el DDL: dim_zonas solo contiene atributos de entidad y población agregada.</a:t>
            </a:r>
          </a:p>
          <a:p xmlns:a="http://schemas.openxmlformats.org/drawingml/2006/main">
            <a:r>
              <a:t>Dificultad: Alta: cargar un catálogo territorial más detallado y controlar el volumen de relaciones sismo-localidad.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P04 Identidad territorial consistente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 entidad federativa se repite con nombres y tipos distintos en las dimensiones, sin un catálogo común que resuelva equivalencias.</a:t>
            </a:r>
          </a:p>
          <a:p xmlns:a="http://schemas.openxmlformats.org/drawingml/2006/main">
            <a:r>
              <a:t>Función: El analista selecciona una entidad una sola vez y obtiene sismos, población y economía asociados a la misma identidad territorial.</a:t>
            </a:r>
          </a:p>
          <a:p xmlns:a="http://schemas.openxmlformats.org/drawingml/2006/main">
            <a:r>
              <a:t>Modelo: Conservar ENTIDAD_FEDERATIVA como identidad común y agregar IDENTIFICADOR_TERRITORIAL (fuente, código, vigencia). Normalizar las referencias desde sismos y censos mediante un mapeo verificable de códigos.</a:t>
            </a:r>
          </a:p>
          <a:p xmlns:a="http://schemas.openxmlformats.org/drawingml/2006/main">
            <a:r>
              <a:t>Sustento: Hallazgo en el DDL: estado es VARCHAR, entidad de zonas es INT y entidad de economía es DOUBLE PRECISION. Desarrolla la idea de catálogo único que aparecía en la presentación anterior.</a:t>
            </a:r>
          </a:p>
          <a:p xmlns:a="http://schemas.openxmlformats.org/drawingml/2006/main">
            <a:r>
              <a:t>Dificultad: Media: depurar equivalencias y migrar referencias sin confundir abreviaturas con claves oficiales.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P05 Ediciones censales comparables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Las dimensiones publicadas no conservan anio_censo; una actualización puede impedir distinguir mediciones de distintas ediciones.</a:t>
            </a:r>
          </a:p>
          <a:p xmlns:a="http://schemas.openxmlformats.org/drawingml/2006/main">
            <a:r>
              <a:t>Función: El usuario elige la edición censal y compara indicadores de una entidad entre periodos sin sobrescribir observaciones anteriores.</a:t>
            </a:r>
          </a:p>
          <a:p xmlns:a="http://schemas.openxmlformats.org/drawingml/2006/main">
            <a:r>
              <a:t>Modelo: Agregar EDICION_CENSAL (identificador, año, fuente, fecha de referencia) y vincular CENSO_POBLACION y CENSO_ECONOMICO a su edición. La combinación entidad-edición identifica cada observación censal.</a:t>
            </a:r>
          </a:p>
          <a:p xmlns:a="http://schemas.openxmlformats.org/drawingml/2006/main">
            <a:r>
              <a:t>Sustento: Ausencia de anio_censo en dim_zonas y dim_economia. El EER ya reconoce el año; la propuesta añade metadatos de edición y evita perderlo en el almacén.</a:t>
            </a:r>
          </a:p>
          <a:p xmlns:a="http://schemas.openxmlformats.org/drawingml/2006/main">
            <a:r>
              <a:t>Dificultad: Media: definir el grano, conservar ediciones y hacer explícita la edición usada por cada consulta de impacto.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P06 Trazabilidad de valores imputados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nombre de la tabla de hechos indica imputación, pero su DDL no registra qué campo se estimó ni cómo se obtuvo el resultado.</a:t>
            </a:r>
          </a:p>
          <a:p xmlns:a="http://schemas.openxmlformats.org/drawingml/2006/main">
            <a:r>
              <a:t>Función: El analista distingue valores observados e imputados y consulta método, fecha y valor original antes de usar un indicador.</a:t>
            </a:r>
          </a:p>
          <a:p xmlns:a="http://schemas.openxmlformats.org/drawingml/2006/main">
            <a:r>
              <a:t>Modelo: Agregar REGISTRO_IMPUTACION relacionado con una ocurrencia de IMPACTA mediante agregación. Registrar campo, valor original, valor obtenido, método y versión, fecha y medida de confianza solo cuando el método la produzca.</a:t>
            </a:r>
          </a:p>
          <a:p xmlns:a="http://schemas.openxmlformats.org/drawingml/2006/main">
            <a:r>
              <a:t>Sustento: Hallazgo en fact_impacto_sismos_imputed: no hay columnas de procedencia de imputación. Desarrolla la propuesta de trazabilidad incluida en la presentación anterior.</a:t>
            </a:r>
          </a:p>
          <a:p xmlns:a="http://schemas.openxmlformats.org/drawingml/2006/main">
            <a:r>
              <a:t>Dificultad: Alta: identificar cada observación de impacto y registrar resultados reproducibles sin atribuir una confianza que no se haya calculado.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P07 Procedencia y lotes de carga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modelo no permite determinar con qué archivo o actualización se incorporó un registro al sistema.</a:t>
            </a:r>
          </a:p>
          <a:p xmlns:a="http://schemas.openxmlformats.org/drawingml/2006/main">
            <a:r>
              <a:t>Función: El administrador rastrea un sismo hasta su fuente y lote, identifica la fecha de incorporación y consulta el alcance de cada carga.</a:t>
            </a:r>
          </a:p>
          <a:p xmlns:a="http://schemas.openxmlformats.org/drawingml/2006/main">
            <a:r>
              <a:t>Modelo: Agregar FUENTE_DATOS y LOTE_CARGA con referencia de archivo, hash, fechas y estado. Registrar la incorporación de SISMO a un lote. La procedencia no reemplaza el historial de correcciones manuales ni el registro de imputación.</a:t>
            </a:r>
          </a:p>
          <a:p xmlns:a="http://schemas.openxmlformats.org/drawingml/2006/main">
            <a:r>
              <a:t>Sustento: Necesidad identificada durante la revisión del DDL, que solo declara datos del dominio y carece de metadatos de carga.</a:t>
            </a:r>
          </a:p>
          <a:p xmlns:a="http://schemas.openxmlformats.org/drawingml/2006/main">
            <a:r>
              <a:t>Dificultad: Media: instrumentar el proceso de carga y definir cómo detectar duplicados y nuevas versiones de archivos.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P08 Historial de correcciones manuales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Una corrección de magnitud, coordenadas o referencia puede reemplazar información sin conservar quién la modificó y por qué.</a:t>
            </a:r>
          </a:p>
          <a:p xmlns:a="http://schemas.openxmlformats.org/drawingml/2006/main">
            <a:r>
              <a:t>Función: Una persona autorizada corrige un registro y el equipo puede consultar la secuencia de cambios y su justificación.</a:t>
            </a:r>
          </a:p>
          <a:p xmlns:a="http://schemas.openxmlformats.org/drawingml/2006/main">
            <a:r>
              <a:t>Modelo: Agregar REVISION_DATO con campo, valor anterior, valor nuevo, motivo, instante y editor; relacionarla con SISMO. Se documentan cambios manuales, separados de la estimación automática de datos faltantes.</a:t>
            </a:r>
          </a:p>
          <a:p xmlns:a="http://schemas.openxmlformats.org/drawingml/2006/main">
            <a:r>
              <a:t>Sustento: Necesidad identificada en el análisis de integridad: el esquema no contiene una bitácora de modificaciones del catálogo.</a:t>
            </a:r>
          </a:p>
          <a:p xmlns:a="http://schemas.openxmlformats.org/drawingml/2006/main">
            <a:r>
              <a:t>Dificultad: Media: identificar editores y registrar cambios de forma transaccional, conservando la referencia al registro afectado.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P09 Evaluación de calidad de registros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No se conservan resultados de validación que permitan distinguir registros completos, sospechosos y rechazados antes del análisis.</a:t>
            </a:r>
          </a:p>
          <a:p xmlns:a="http://schemas.openxmlformats.org/drawingml/2006/main">
            <a:r>
              <a:t>Función: El equipo filtra incidencias por regla o lote y conoce qué datos requieren revisión antes de generar reportes.</a:t>
            </a:r>
          </a:p>
          <a:p xmlns:a="http://schemas.openxmlformats.org/drawingml/2006/main">
            <a:r>
              <a:t>Modelo: Agregar REGLA_CALIDAD y EVALUACION_CALIDAD para relacionar SISMO con regla, versión, resultado, fecha y detalle. No sustituir el valor original ni confundir una incidencia con una corrección.</a:t>
            </a:r>
          </a:p>
          <a:p xmlns:a="http://schemas.openxmlformats.org/drawingml/2006/main">
            <a:r>
              <a:t>Sustento: Hallazgo del DDL: latitud, longitud, magnitud y demás campos no tienen CHECK ni NOT NULL; la consulta histórica muestra que es importante examinar la calidad antes de interpretar valores.</a:t>
            </a:r>
          </a:p>
          <a:p xmlns:a="http://schemas.openxmlformats.org/drawingml/2006/main">
            <a:r>
              <a:t>Dificultad: Media: acordar reglas, conservar resultados y distinguir avisos de errores que realmente impiden la carga.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P10 Comparación de escenarios de impacto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hecho publicado guarda indicadores de impacto sin identificar un escenario, versión de cálculo o parámetros que expliquen diferencias entre estimaciones.</a:t>
            </a:r>
          </a:p>
          <a:p xmlns:a="http://schemas.openxmlformats.org/drawingml/2006/main">
            <a:r>
              <a:t>Función: El analista compara resultados para un mismo sismo bajo distintas ediciones censales o configuraciones, manteniendo separados los resultados calculados de los datos observados.</a:t>
            </a:r>
          </a:p>
          <a:p xmlns:a="http://schemas.openxmlformats.org/drawingml/2006/main">
            <a:r>
              <a:t>Modelo: Agregar ESCENARIO_IMPACTO y RESULTADO_ESCENARIO relacionados con SISMO y ENTIDAD_FEDERATIVA. Guardar versión de cálculo, parámetros, edición de datos, fecha e indicadores con unidades definidas.</a:t>
            </a:r>
          </a:p>
          <a:p xmlns:a="http://schemas.openxmlformats.org/drawingml/2006/main">
            <a:r>
              <a:t>Sustento: Necesidad identificada a partir de los indicadores del hecho y de la ausencia de metadatos de escenario en su DDL. No se afirma que las estimaciones sean predicciones validadas.</a:t>
            </a:r>
          </a:p>
          <a:p xmlns:a="http://schemas.openxmlformats.org/drawingml/2006/main">
            <a:r>
              <a:t>Dificultad: Alta: definir una metodología reproducible y comparar únicamente resultados de grano y unidades compatibles.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P11 Observaciones por estación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El catálogo describe epicentros, pero no conserva mediciones instrumentales asociadas a una estación y a un evento.</a:t>
            </a:r>
          </a:p>
          <a:p xmlns:a="http://schemas.openxmlformats.org/drawingml/2006/main">
            <a:r>
              <a:t>Función: El investigador consulta estaciones que registraron un evento y examina sus mediciones con unidades y procedencia explícitas.</a:t>
            </a:r>
          </a:p>
          <a:p xmlns:a="http://schemas.openxmlformats.org/drawingml/2006/main">
            <a:r>
              <a:t>Modelo: Agregar ESTACION y OBSERVACION_INSTRUMENTAL entre SISMO y ESTACION, con instante, variable, valor, unidad y fuente. Un evento y una estación pueden tener varias observaciones.</a:t>
            </a:r>
          </a:p>
          <a:p xmlns:a="http://schemas.openxmlformats.org/drawingml/2006/main">
            <a:r>
              <a:t>Sustento: Necesidad de análisis planteada en este borrador. Requiere conseguir y evaluar una fuente de mediciones; esos datos no están en la base actual y no se inventan para la propuesta.</a:t>
            </a:r>
          </a:p>
          <a:p xmlns:a="http://schemas.openxmlformats.org/drawingml/2006/main">
            <a:r>
              <a:t>Dificultad: Alta: conseguir una fuente compatible, vincular eventos y estaciones y evitar mezclar magnitudes, intensidad y mediciones físicas diferentes.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P12 Alertas por criterios configurables</a:t>
            </a:r>
          </a:p>
          <a:p xmlns:a="http://schemas.openxmlformats.org/drawingml/2006/main">
            <a:r>
              <a:t>Estado: Borrador para validación</a:t>
            </a:r>
          </a:p>
          <a:p xmlns:a="http://schemas.openxmlformats.org/drawingml/2006/main">
            <a:r>
              <a:t>Necesidad: Las consultas manuales no conservan qué eventos cumplieron una regla de interés ni a quién corresponde revisar el resultado.</a:t>
            </a:r>
          </a:p>
          <a:p xmlns:a="http://schemas.openxmlformats.org/drawingml/2006/main">
            <a:r>
              <a:t>Función: Un observador configura umbrales de magnitud, profundidad o entidad y consulta un historial de coincidencias y atención. La función sirve para seguimiento del catálogo, sin presentarse como alerta temprana.</a:t>
            </a:r>
          </a:p>
          <a:p xmlns:a="http://schemas.openxmlformats.org/drawingml/2006/main">
            <a:r>
              <a:t>Modelo: Agregar OBSERVADOR, REGLA_ALERTA y ALERTA_GENERADA; vincular cada alerta con SISMO, regla y fecha de evaluación, y registrar estado de atención. No se envían mensajes reales al elaborar esta propuesta.</a:t>
            </a:r>
          </a:p>
          <a:p xmlns:a="http://schemas.openxmlformats.org/drawingml/2006/main">
            <a:r>
              <a:t>Sustento: Necesidad de seguimiento identificada a partir de las consultas de Sismos. La evaluación posterior de un registro es distinta de un sistema de aviso previo a la llegada de ondas.</a:t>
            </a:r>
          </a:p>
          <a:p xmlns:a="http://schemas.openxmlformats.org/drawingml/2006/main">
            <a:r>
              <a:t>Dificultad: Media: versionar reglas, evitar duplicados y conservar el motivo por el que un evento cumplió el criterio.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levantamiento.md, eer.png, correspondencia-con-el-esquema.pdf, propuestas/propuestas-de-mejora.pdf. Los issues #1–#3 están en Proyecto-Asig-Sismos. No se atribuye validación de compañeros ni ejecución del cambio de Práctica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1330a71e9c43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9bb736e99b48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af9f1e71146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7d0069675f4d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f14ac43d545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d3d4f589e4f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281403-FA55-495B-AE56-F3257FF293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C5EE7E1-CF61-47A0-B2BD-B6BA21CE24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81DECD-777C-4FA6-85A4-0AF7FD0D9B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CA8C214-B194-4A78-97C4-D844B3424A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D02B2B4-F23E-409B-8A75-3A1B8FB2E8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9A60341-FBD1-4745-B2FC-2657C24FF7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54A4EB5-4D37-431E-9BFF-E1C9EEFC82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6265904-A39C-42A4-AF4D-91C1654C67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C99027-2D36-43C6-89D9-16C62384B2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2C85C8-8E34-4EF2-A86E-996BCD929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567b2b41874b09" /><Relationship Type="http://schemas.openxmlformats.org/officeDocument/2006/relationships/slideLayout" Target="/ppt/slideLayouts/slideLayout1.xml" Id="R90d4fad17d2a4f06" /><Relationship Type="http://schemas.openxmlformats.org/officeDocument/2006/relationships/slideLayout" Target="/ppt/slideLayouts/slideLayout2.xml" Id="Rbf8bab4571dd45d8" /><Relationship Type="http://schemas.openxmlformats.org/officeDocument/2006/relationships/slideLayout" Target="/ppt/slideLayouts/slideLayout3.xml" Id="R4bfd3fb293af4723" /><Relationship Type="http://schemas.openxmlformats.org/officeDocument/2006/relationships/slideLayout" Target="/ppt/slideLayouts/slideLayout4.xml" Id="R4176b56f38284f11" /><Relationship Type="http://schemas.openxmlformats.org/officeDocument/2006/relationships/slideLayout" Target="/ppt/slideLayouts/slideLayout5.xml" Id="Ra71c13d167774d12" /><Relationship Type="http://schemas.openxmlformats.org/officeDocument/2006/relationships/slideLayout" Target="/ppt/slideLayouts/slideLayout6.xml" Id="R9534847b6d8a41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d4fad17d2a4f06"/>
    <p:sldLayoutId xmlns:r="http://schemas.openxmlformats.org/officeDocument/2006/relationships" id="2147483650" r:id="Rbf8bab4571dd45d8"/>
    <p:sldLayoutId xmlns:r="http://schemas.openxmlformats.org/officeDocument/2006/relationships" id="2147483651" r:id="R4bfd3fb293af4723"/>
    <p:sldLayoutId xmlns:r="http://schemas.openxmlformats.org/officeDocument/2006/relationships" id="2147483652" r:id="R4176b56f38284f11"/>
    <p:sldLayoutId xmlns:r="http://schemas.openxmlformats.org/officeDocument/2006/relationships" id="2147483653" r:id="Ra71c13d167774d12"/>
    <p:sldLayoutId xmlns:r="http://schemas.openxmlformats.org/officeDocument/2006/relationships" id="2147483654" r:id="R9534847b6d8a41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5830a9bf314aa6" /><Relationship Type="http://schemas.openxmlformats.org/officeDocument/2006/relationships/notesSlide" Target="/ppt/notesSlides/notesSlide1.xml" Id="Re8541607cb3949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01c6b0fac142df" /><Relationship Type="http://schemas.openxmlformats.org/officeDocument/2006/relationships/notesSlide" Target="/ppt/notesSlides/notesSlide2.xml" Id="R6583c3c7121641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091cbbecc64272" /><Relationship Type="http://schemas.openxmlformats.org/officeDocument/2006/relationships/notesSlide" Target="/ppt/notesSlides/notesSlide3.xml" Id="R03d8891c7df041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dc3346f66402b" /><Relationship Type="http://schemas.openxmlformats.org/officeDocument/2006/relationships/image" Target="/ppt/media/image.png" Id="R5a24866ceb1943a6" /><Relationship Type="http://schemas.openxmlformats.org/officeDocument/2006/relationships/notesSlide" Target="/ppt/notesSlides/notesSlide4.xml" Id="R6e9a8d4f511743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d876347354a70" /><Relationship Type="http://schemas.openxmlformats.org/officeDocument/2006/relationships/image" Target="/ppt/media/image.jpeg" Id="R2574242b18b446a0" /><Relationship Type="http://schemas.openxmlformats.org/officeDocument/2006/relationships/notesSlide" Target="/ppt/notesSlides/notesSlide5.xml" Id="R819eabb1864c44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18fbd9d6cb44fb" /><Relationship Type="http://schemas.openxmlformats.org/officeDocument/2006/relationships/image" Target="/ppt/media/image2.png" Id="R644a51b89d754f84" /><Relationship Type="http://schemas.openxmlformats.org/officeDocument/2006/relationships/notesSlide" Target="/ppt/notesSlides/notesSlide6.xml" Id="R0da5a0b9df0140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0d476e2ee34218" /><Relationship Type="http://schemas.openxmlformats.org/officeDocument/2006/relationships/notesSlide" Target="/ppt/notesSlides/notesSlide7.xml" Id="Rfb3487874e4647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845d09f32f47c8" /><Relationship Type="http://schemas.openxmlformats.org/officeDocument/2006/relationships/notesSlide" Target="/ppt/notesSlides/notesSlide8.xml" Id="R747558478a3a4a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ccba3805044fd9" /><Relationship Type="http://schemas.openxmlformats.org/officeDocument/2006/relationships/notesSlide" Target="/ppt/notesSlides/notesSlide9.xml" Id="R5181d5f3880241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5d19f7db914f3e" /><Relationship Type="http://schemas.openxmlformats.org/officeDocument/2006/relationships/notesSlide" Target="/ppt/notesSlides/notesSlide10.xml" Id="R8b07cfb143f743e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585b21c0624a0c" /><Relationship Type="http://schemas.openxmlformats.org/officeDocument/2006/relationships/notesSlide" Target="/ppt/notesSlides/notesSlide11.xml" Id="R7cde396131334a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bdabd4069a4b4b" /><Relationship Type="http://schemas.openxmlformats.org/officeDocument/2006/relationships/notesSlide" Target="/ppt/notesSlides/notesSlide12.xml" Id="R8a730bc5f89f47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AB5BF9-7AB1-4844-A870-FEB3F9CB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B265A-5529-4AFD-B41B-844C9DCE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Sismos: proyecto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A52B8-C500-46FA-87D3-255C2339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Modelo Entidad–Relación Extendido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34371-17FB-45E7-8D4B-077EDF3D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CA480-102D-4B84-8B48-B55627AF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7BC74-291C-40CE-AFD0-05788645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085975"/>
            <a:ext cx="8191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Damas Garnica Adrian</a:t>
            </a:r>
          </a:p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Esparza Ramón Fernando Adán</a:t>
            </a:r>
          </a:p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Ramos Padrón Jesus Emmanuel</a:t>
            </a:r>
          </a:p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Hernandez Barrios Samuel Rodrigo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B7CF41-0681-4223-BD81-BDA647D6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229100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Ingeniería en Sistemas Computacionales · 18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6584121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524FC-42D3-40FE-A843-605BF82F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397BA-DD24-4EA7-A31E-4FCE31A7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Contenido del bloque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CCEAF-8D01-414D-953B-06A74214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Presentación independiente del proyecto de música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7BA74-B99A-4FAF-AA88-16C39C77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E600D-68D9-40F7-9479-6C996B68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CA5327-4959-444B-AF63-1F08B8E6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57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Problema y datos de Sismos.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72FFD-36FA-42BF-B910-3FF6AD28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19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local, consulta SQL y EER conceptual.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8C3F7-8F1F-40BF-A9F4-9758448B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381375"/>
            <a:ext cx="8239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Correspondencia del esquema y propuestas del equipo.</a:t>
            </a:r>
          </a:p>
        </p:txBody>
      </p:sp>
    </p:spTree>
    <p:extLst>
      <p:ext uri="{BB962C8B-B14F-4D97-AF65-F5344CB8AC3E}">
        <p14:creationId xmlns:p14="http://schemas.microsoft.com/office/powerpoint/2010/main" val="17618730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A5331-8B46-42CF-81CF-FD6FE227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B3A3E-B0AA-45E8-95DE-7843288F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Sismos: del catálogo al análisis territorial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FAC5D-F432-4D5D-9E30-F335D1A7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Proyecto asignado: Seismic Data Visualization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2D188-0DB6-4754-A0A3-D83589F6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CA54D-0CC7-4EE1-AE2C-D03BEFA3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19D94-B6F3-4057-BDBF-D4A9E743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478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Pregunta: ¿cómo relacionar los eventos con la población y la economía de una entidad?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28A9A-9151-4A9F-8EC6-A62F907E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60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El almacén combina sismos, tiempo, zonas y economía en un hecho de impacto.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B073A-A9AB-4E24-9747-1F654E4B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524250"/>
            <a:ext cx="8239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La interpretación exige conservar el grano, las unidades y la procedencia de los valores.</a:t>
            </a:r>
          </a:p>
        </p:txBody>
      </p:sp>
    </p:spTree>
    <p:extLst>
      <p:ext uri="{BB962C8B-B14F-4D97-AF65-F5344CB8AC3E}">
        <p14:creationId xmlns:p14="http://schemas.microsoft.com/office/powerpoint/2010/main" val="437329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F518B-469C-4A30-B025-8BD0132F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D507E-C0B0-453E-B884-F2A35864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Evidencia histórica de consulta 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26CBA-C909-4977-AFEF-CB849412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La captura conservada devuelve cinco filas de dim_sismos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C49FF-56ED-480D-9E63-B62911EC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7B431-FFC9-4C6C-A15D-47B0A64C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4F58F-68B6-46C2-98E9-EDFC39181B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4866ceb1943a6"/>
          <a:stretch xmlns:a="http://schemas.openxmlformats.org/drawingml/2006/main"/>
        </p:blipFill>
        <p:spPr>
          <a:xfrm xmlns:a="http://schemas.openxmlformats.org/drawingml/2006/main">
            <a:off x="2246929" y="1704975"/>
            <a:ext cx="4650142" cy="2905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1138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C9C25-30B1-4B5E-8E39-BBADB7C9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745F0-83FE-49D0-910B-8DF8E031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 con datos cargados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CBBF1-E1B0-417B-8D01-9323ACD8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18/10/2026 · Año 2020, magnitud mínima 6: tres eventos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8D3D5-583D-40B1-879B-2C9899C3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E79B0-6F36-49DE-B2A1-E145FC7F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B5DA6-9B74-47C2-9DCF-DC4F253FB2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4242b18b446a0"/>
          <a:stretch xmlns:a="http://schemas.openxmlformats.org/drawingml/2006/main"/>
        </p:blipFill>
        <p:spPr>
          <a:xfrm xmlns:a="http://schemas.openxmlformats.org/drawingml/2006/main">
            <a:off x="2092791" y="1781175"/>
            <a:ext cx="4958418" cy="2790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06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96F56-A3BA-48FA-B4AB-7D6E5EE0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D19B4-744E-4FA6-834C-3DAD1023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Modelo conceptual del proyecto asignado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4C059-22C6-446C-ACDC-2AFC6123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Sismos y censos dependen de su contexto territorial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4651A2-4965-47BC-AB4C-4B4897E4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02600-09AF-42A6-881A-0747A2B0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EFFF6-D56B-4C8B-AC41-CEF18A9182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a51b89d754f84"/>
          <a:stretch xmlns:a="http://schemas.openxmlformats.org/drawingml/2006/main"/>
        </p:blipFill>
        <p:spPr>
          <a:xfrm xmlns:a="http://schemas.openxmlformats.org/drawingml/2006/main">
            <a:off x="1682346" y="1619250"/>
            <a:ext cx="5779309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3283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95437-FCF0-4083-BABA-52D80272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92EFA-800F-4E4A-8FD7-AADA75AA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Correspondencia con el almacén publicado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E6FA6-DDF5-4CFD-A0DF-777983C4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El modelo conceptual expresa reglas que el esquema físico puede perder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C3166-DB61-48D6-B8D3-2ABC5146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F1E84-5128-4A93-A424-BF7A097C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C30F3-2A27-461C-923E-22507D0C34F8}"/>
              </a:ext>
            </a:extLst>
          </p:cNvPr>
          <p:cNvGraphicFramePr/>
          <p:nvPr/>
        </p:nvGraphicFramePr>
        <p:xfrm>
          <a:off xmlns:a="http://schemas.openxmlformats.org/drawingml/2006/main" x="381000" y="1809750"/>
          <a:ext xmlns:a="http://schemas.openxmlformats.org/drawingml/2006/main" cx="83820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2762250"/>
                <a:gridCol w="3190875"/>
              </a:tblGrid>
              <a:tr h="452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Dominio conceptual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Tabla publicada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Punto para explicar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T w="4763">
                      <a:solidFill>
                        <a:srgbClr val="D4DADF"/>
                      </a:solidFill>
                      <a:prstDash val="solid"/>
                    </a:lnT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802D42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SISMO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dim_sismos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Estado abreviado y nombre redundantes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Fecha del evento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dim_tiempo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Dimensión separada para análisis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Entidad / censo poblacional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dim_zonas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Año censal no conservado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Censo económico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dim_economia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Edición censal no conservada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Relación de impacto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D4DADF"/>
                      </a:solidFill>
                      <a:prstDash val="solid"/>
                    </a:lnL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fact_impacto_sismos_imputed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3244"/>
                          </a:solidFill>
                          <a:latin typeface="Arial"/>
                          <a:ea typeface="Arial"/>
                          <a:cs typeface="Arial"/>
                        </a:rPr>
                        <a:t>Hecho sin PK declarada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D4DADF"/>
                      </a:solidFill>
                      <a:prstDash val="solid"/>
                    </a:lnR>
                    <a:lnB w="4763">
                      <a:solidFill>
                        <a:srgbClr val="D4DADF"/>
                      </a:solidFill>
                      <a:prstDash val="solid"/>
                    </a:lnB>
                    <a:solidFill>
                      <a:srgbClr val="EAED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87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C2F182-E450-4474-BB7E-377C5D6F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9BB4A-58EE-4842-A963-4FFD3C72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registradas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FCD7D4-46F1-40C1-BCDB-2505703C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Hernandez Barrios Samuel Rodrigo · Issues #1, #2 y #3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C77E1-88D7-4694-9126-D2A980D5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C3E09-4CE9-4BD4-9128-EADDE755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80773-1ACB-4831-A4DA-5E6C9767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P01  Réplicas y secuencias sísmicas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9D2364-D2DE-4E35-85A7-60AAABE1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SISMO: principal / SISMO: réplica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619A5-AB6C-497E-8D1A-BDF28869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P02  Placas tectónicas como contexto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92A6C-086E-41F5-953E-62689C92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PLACA_TECTONICA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D6C2F-4AC2-4D6C-A0C9-1B02D0EC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P03  Municipios y localidades expuestas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B7DB6-5947-4D99-A179-9F83E89E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LOCALIDAD</a:t>
            </a:r>
          </a:p>
        </p:txBody>
      </p:sp>
    </p:spTree>
    <p:extLst>
      <p:ext uri="{BB962C8B-B14F-4D97-AF65-F5344CB8AC3E}">
        <p14:creationId xmlns:p14="http://schemas.microsoft.com/office/powerpoint/2010/main" val="11008849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400CA-68C7-4ECA-AA42-6E44F573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BC5A2-261D-4C9E-B206-D505752C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4862D-F13E-4225-B488-0DACFD49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Damas Garnica Adrian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E5E8D-619B-49C7-BE7A-50BFE6A9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BEA5A-E701-4C2D-9017-41B1E8A6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1264C-68CE-4B9B-99EA-C168A35E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P04  Identidad territorial consistente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107A0-B36D-461C-BAC4-389A7544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ENTIDAD_FEDERATIVA / IDENTIFICADOR_TERRITORIAL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F5A017-0C4F-4738-B1B6-999D2A87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P05  Ediciones censales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A2D34-DD1C-42E4-BACC-F9880601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CENSO_POBLACION / EDICION_CENSAL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B3391-5104-43D9-B028-89A03BB9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P06  Trazabilidad de valores imputados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D3F078-93D3-413A-A689-0DE53598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[SISMO - IMPACTA - ENTIDAD] / REGISTRO_IMPUTACION</a:t>
            </a:r>
          </a:p>
        </p:txBody>
      </p:sp>
    </p:spTree>
    <p:extLst>
      <p:ext uri="{BB962C8B-B14F-4D97-AF65-F5344CB8AC3E}">
        <p14:creationId xmlns:p14="http://schemas.microsoft.com/office/powerpoint/2010/main" val="18393134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AD472-9E5F-4D09-9E5B-E323D9AF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DAC909-916E-4327-AD82-8A6864E4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94E09-81BB-4048-B2FD-AAFEC5E9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Esparza Ramón Fernando Adán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8E17F-85F9-43DC-9945-2EF1B5CB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1E15C-EE78-4E7B-A672-50D2C9D8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7187F-E195-47DD-B7C5-3E812428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P07  Procedencia y lotes de carga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BFBF3-467A-47C5-9970-DA79ACE8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LOTE_CARGA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21517-3EE0-492C-B837-BB4BA782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P08  Historial de correcciones manuales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8285D-EEEA-4BBB-BD37-C9EA8EA2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REVISION_DATO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8EBB8F-CB61-49E7-B95C-C72AD520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P09  Evaluación de calidad de registros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C61AE-1DF7-405C-BFAC-BE4CB50B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EVALUACION_CALIDAD</a:t>
            </a:r>
          </a:p>
        </p:txBody>
      </p:sp>
    </p:spTree>
    <p:extLst>
      <p:ext uri="{BB962C8B-B14F-4D97-AF65-F5344CB8AC3E}">
        <p14:creationId xmlns:p14="http://schemas.microsoft.com/office/powerpoint/2010/main" val="5983677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75B76-217E-403E-B3E5-209563AD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8C0CF-4163-4EFB-B147-11728BA1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Tres propuestas para validar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01DF8-6AC1-4E1A-AC9A-D494F695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Ramos Padrón Jesus Emmanuel · Revisor sugerido, pendiente de aceptación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45E2A2-A30D-4AE4-B3EE-F189DD51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D7EC3-BA5B-4714-9533-812F4507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03FDA-4B0D-4CF9-8054-324222AA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288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P10  Comparación de escenarios de impacto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EDBC6-5B1E-41BD-9187-DAE74E1B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7170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RESULTADO_ESCENARIO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776F9-5577-4D37-97E5-0088CD21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733675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P11  Observaciones por estación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5826D-5B12-4521-AA43-9992FF7B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7657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OBSERVACION_INSTRUMENTAL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473B4-7B4E-4A46-8C98-B15CAADF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3855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P12  Alertas por criterios configurables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CAD9D-0D99-4DBB-BF76-258B97B9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SISMO / ALERTA_GENERADA</a:t>
            </a:r>
          </a:p>
        </p:txBody>
      </p:sp>
    </p:spTree>
    <p:extLst>
      <p:ext uri="{BB962C8B-B14F-4D97-AF65-F5344CB8AC3E}">
        <p14:creationId xmlns:p14="http://schemas.microsoft.com/office/powerpoint/2010/main" val="1931183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14577-847D-4C65-A6C9-4A64F657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BASES DE DATOS · PRÁCTICA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C5697-8276-458F-9658-152B93BC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71500"/>
            <a:ext cx="8382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3244"/>
                </a:solidFill>
                <a:latin typeface="Arial"/>
                <a:ea typeface="Arial"/>
                <a:cs typeface="Arial"/>
              </a:rPr>
              <a:t>Estado de la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254C1-FA1E-4060-8096-6FA6FC18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573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Documentación recuperada y evidencias actuales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0EBFAF-0674-4A01-8AC2-2843DEE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defPPr>
            <a:lvl1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1pPr>
            <a:lvl2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2pPr>
            <a:lvl3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3pPr>
            <a:lvl4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4pPr>
            <a:lvl5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5pPr>
            <a:lvl6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6pPr>
            <a:lvl7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7pPr>
            <a:lvl8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8pPr>
            <a:lvl9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596678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96678"/>
                </a:solidFill>
                <a:latin typeface="Arial"/>
                <a:ea typeface="Arial"/>
                <a:cs typeface="Arial"/>
              </a:rPr>
              <a:t>3CV4 · Sismos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BBF5A-5136-4B99-B502-A93C49DB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196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defPPr>
            <a:lvl1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1pPr>
            <a:lvl2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2pPr>
            <a:lvl3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3pPr>
            <a:lvl4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4pPr>
            <a:lvl5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5pPr>
            <a:lvl6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6pPr>
            <a:lvl7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7pPr>
            <a:lvl8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8pPr>
            <a:lvl9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802D42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02D4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331B7-8E85-49F3-8ED1-96EC111A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573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Demo local y consulta SQL comprobadas.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5DA6E-50DE-485F-84A2-39AD16AC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7652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Doce propuestas documentadas; nueve por validar.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A1986-B050-4800-A71F-8502355E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495675"/>
            <a:ext cx="8239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432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43244"/>
                </a:solidFill>
                <a:latin typeface="Arial"/>
                <a:ea typeface="Arial"/>
                <a:cs typeface="Arial"/>
              </a:rPr>
              <a:t>Pendiente: captura de terminal, issues y revisión del compañero.</a:t>
            </a:r>
          </a:p>
        </p:txBody>
      </p:sp>
    </p:spTree>
    <p:extLst>
      <p:ext uri="{BB962C8B-B14F-4D97-AF65-F5344CB8AC3E}">
        <p14:creationId xmlns:p14="http://schemas.microsoft.com/office/powerpoint/2010/main" val="4886467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2026-10-18T17:31:38.4480000Z</dcterms:created>
  <dcterms:modified xsi:type="dcterms:W3CDTF">2026-10-18T17:31:38.4480000Z</dcterms:modified>
</coreProperties>
</file>