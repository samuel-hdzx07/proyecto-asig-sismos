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a6f9fb37cf4352" /><Relationship Type="http://schemas.openxmlformats.org/officeDocument/2006/relationships/extended-properties" Target="/docProps/app.xml" Id="R86b7eac11b8043f2" /><Relationship Type="http://schemas.openxmlformats.org/officeDocument/2006/relationships/officeDocument" Target="/ppt/presentation.xml" Id="R327ce7be05344f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95f6765efe4118"/>
  </p:sldMasterIdLst>
  <p:notesMasterIdLst>
    <p:notesMasterId xmlns:r="http://schemas.openxmlformats.org/officeDocument/2006/relationships" r:id="Rc1d2ab7151ea4018"/>
  </p:notesMasterIdLst>
  <p:sldIdLst>
    <p:sldId xmlns:r="http://schemas.openxmlformats.org/officeDocument/2006/relationships" id="256" r:id="R7df037ef438a4486"/>
    <p:sldId xmlns:r="http://schemas.openxmlformats.org/officeDocument/2006/relationships" id="257" r:id="Rd0309b987d7c47fa"/>
    <p:sldId xmlns:r="http://schemas.openxmlformats.org/officeDocument/2006/relationships" id="258" r:id="Rf2bae8a0bb4f4bd8"/>
    <p:sldId xmlns:r="http://schemas.openxmlformats.org/officeDocument/2006/relationships" id="259" r:id="R76257605fea4460a"/>
    <p:sldId xmlns:r="http://schemas.openxmlformats.org/officeDocument/2006/relationships" id="260" r:id="R391969b160a649e5"/>
    <p:sldId xmlns:r="http://schemas.openxmlformats.org/officeDocument/2006/relationships" id="261" r:id="R840bb0303c46424b"/>
    <p:sldId xmlns:r="http://schemas.openxmlformats.org/officeDocument/2006/relationships" id="262" r:id="Ra3e546669a92480d"/>
    <p:sldId xmlns:r="http://schemas.openxmlformats.org/officeDocument/2006/relationships" id="263" r:id="Re62b7695d4f94ea1"/>
    <p:sldId xmlns:r="http://schemas.openxmlformats.org/officeDocument/2006/relationships" id="264" r:id="Redbac85c4394444f"/>
    <p:sldId xmlns:r="http://schemas.openxmlformats.org/officeDocument/2006/relationships" id="265" r:id="Rfe2ddb72035941e4"/>
    <p:sldId xmlns:r="http://schemas.openxmlformats.org/officeDocument/2006/relationships" id="266" r:id="R41456706195a45d2"/>
    <p:sldId xmlns:r="http://schemas.openxmlformats.org/officeDocument/2006/relationships" id="267" r:id="R87bbabde58eb4f75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2f90d1c0a441de" /><Relationship Type="http://schemas.openxmlformats.org/officeDocument/2006/relationships/slideMaster" Target="/ppt/slideMasters/slideMaster1.xml" Id="R0895f6765efe4118" /><Relationship Type="http://schemas.openxmlformats.org/officeDocument/2006/relationships/notesMaster" Target="/ppt/notesMasters/notesMaster1.xml" Id="Rc1d2ab7151ea4018" /><Relationship Type="http://schemas.openxmlformats.org/officeDocument/2006/relationships/presProps" Target="/ppt/presProps.xml" Id="R7359f13cb15642a7" /><Relationship Type="http://schemas.openxmlformats.org/officeDocument/2006/relationships/tableStyles" Target="/ppt/tableStyles.xml" Id="R6f5f68f55b7347c3" /><Relationship Type="http://schemas.openxmlformats.org/officeDocument/2006/relationships/slide" Target="/ppt/slides/slide1.xml" Id="R7df037ef438a4486" /><Relationship Type="http://schemas.openxmlformats.org/officeDocument/2006/relationships/slide" Target="/ppt/slides/slide2.xml" Id="Rd0309b987d7c47fa" /><Relationship Type="http://schemas.openxmlformats.org/officeDocument/2006/relationships/slide" Target="/ppt/slides/slide3.xml" Id="Rf2bae8a0bb4f4bd8" /><Relationship Type="http://schemas.openxmlformats.org/officeDocument/2006/relationships/slide" Target="/ppt/slides/slide4.xml" Id="R76257605fea4460a" /><Relationship Type="http://schemas.openxmlformats.org/officeDocument/2006/relationships/slide" Target="/ppt/slides/slide5.xml" Id="R391969b160a649e5" /><Relationship Type="http://schemas.openxmlformats.org/officeDocument/2006/relationships/slide" Target="/ppt/slides/slide6.xml" Id="R840bb0303c46424b" /><Relationship Type="http://schemas.openxmlformats.org/officeDocument/2006/relationships/slide" Target="/ppt/slides/slide7.xml" Id="Ra3e546669a92480d" /><Relationship Type="http://schemas.openxmlformats.org/officeDocument/2006/relationships/slide" Target="/ppt/slides/slide8.xml" Id="Re62b7695d4f94ea1" /><Relationship Type="http://schemas.openxmlformats.org/officeDocument/2006/relationships/slide" Target="/ppt/slides/slide9.xml" Id="Redbac85c4394444f" /><Relationship Type="http://schemas.openxmlformats.org/officeDocument/2006/relationships/slide" Target="/ppt/slides/slide10.xml" Id="Rfe2ddb72035941e4" /><Relationship Type="http://schemas.openxmlformats.org/officeDocument/2006/relationships/slide" Target="/ppt/slides/slide11.xml" Id="R41456706195a45d2" /><Relationship Type="http://schemas.openxmlformats.org/officeDocument/2006/relationships/slide" Target="/ppt/slides/slide12.xml" Id="R87bbabde58eb4f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86cf6036d94c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3c9fc8d85f4fc6" /><Relationship Type="http://schemas.openxmlformats.org/officeDocument/2006/relationships/notesMaster" Target="/ppt/notesMasters/notesMaster1.xml" Id="R41dde524d48543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cfe543ec2c4d2d" /><Relationship Type="http://schemas.openxmlformats.org/officeDocument/2006/relationships/notesMaster" Target="/ppt/notesMasters/notesMaster1.xml" Id="Rec73f6b75d3e49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ce2f3fb9174e13" /><Relationship Type="http://schemas.openxmlformats.org/officeDocument/2006/relationships/notesMaster" Target="/ppt/notesMasters/notesMaster1.xml" Id="Rec6ac05e28a044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c0b1c10f4e4a4d" /><Relationship Type="http://schemas.openxmlformats.org/officeDocument/2006/relationships/notesMaster" Target="/ppt/notesMasters/notesMaster1.xml" Id="R68f86fa7853c4d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5450694acc4c36" /><Relationship Type="http://schemas.openxmlformats.org/officeDocument/2006/relationships/notesMaster" Target="/ppt/notesMasters/notesMaster1.xml" Id="Re0e38481346949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f77f3dff424ea9" /><Relationship Type="http://schemas.openxmlformats.org/officeDocument/2006/relationships/notesMaster" Target="/ppt/notesMasters/notesMaster1.xml" Id="R3af7647bcfeb41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ecc1691c7a4fdf" /><Relationship Type="http://schemas.openxmlformats.org/officeDocument/2006/relationships/notesMaster" Target="/ppt/notesMasters/notesMaster1.xml" Id="R85165f510afb49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f7fbcd7299449d" /><Relationship Type="http://schemas.openxmlformats.org/officeDocument/2006/relationships/notesMaster" Target="/ppt/notesMasters/notesMaster1.xml" Id="Rd4541fdf45be4b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ca381855e8443f" /><Relationship Type="http://schemas.openxmlformats.org/officeDocument/2006/relationships/notesMaster" Target="/ppt/notesMasters/notesMaster1.xml" Id="Re17d64e142e34b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a6cb4153d84a5c" /><Relationship Type="http://schemas.openxmlformats.org/officeDocument/2006/relationships/notesMaster" Target="/ppt/notesMasters/notesMaster1.xml" Id="R8df1e9c5dca445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f1c57ae38340f4" /><Relationship Type="http://schemas.openxmlformats.org/officeDocument/2006/relationships/notesMaster" Target="/ppt/notesMasters/notesMaster1.xml" Id="R85eb404631e1450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442c4a542446c7" /><Relationship Type="http://schemas.openxmlformats.org/officeDocument/2006/relationships/notesMaster" Target="/ppt/notesMasters/notesMaster1.xml" Id="Rde6e6913b3ca41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 (OpenAI): apoyo en la elaboración del proyecto. Las propuestas P04–P12 siguen pendientes de validación.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presentación contiene solo Sismos. El tiempo total de 12–15 minutos que pide la consigna también incluye el proyecto propio, ahora separado en BD-Proyecto-Musica. Repartir las propuestas después de confirmar el equipo y validar sus borradores.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fork Samuel-Hdzx07/Seismic-Data-Visualization-System, commit 8569667cf4f46fab640dba3f82a7b324ca7efaf7. DDL sql/00-datawarehouse_tables.sql. Artículo Cuando México tiembla, DOI 10.24275/AZC2026E1004.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histórica del levantamiento documentado el 26/09/2026, no una ejecución nueva. SELECT * FROM dim_sismos LIMIT 5. Explicar magnitud, coordenadas, profundidad y estado. La consulta se repitió el 18/10/2026 y confirmó 319592 filas totales. Ver levantamiento.md y el registro actual. La imagen mostrada sigue siendo la captura histórica.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del 18/10/2026. El filtro pasó de 21 eventos con magnitud mínima 5 a 3 con magnitud mínima 6. La base respondió con 319592 filas en dim_sismos. Comandos reales en capturas/ejecucion-2026-10-18.txt. La captura auténtica de PowerShell está en capturas/arranque-terminal-2026-10-18.png. Los indicadores de población son resultados de la aplicación y no equivalen a personas damnificadas observadas.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SISMO, ENTIDAD_FEDERATIVA, CENSO_POBLACION y CENSO_ECONOMICO. Los censos son entidades débiles: entidad propietaria y año censal identifican cada registro. Fuente: proyecto-asignado/eer.png y correspondencia-con-el-esquema.pdf.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Contraste con DDL del commit 8569667cf4f46fab640dba3f82a7b324ca7efaf7. No presentar el esquema estrella como si fuera el modelo conceptual. El PDF de correspondencia contiene el análisis completo.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P01 Réplicas y secuencias sísmicas</a:t>
            </a:r>
          </a:p>
          <a:p xmlns:a="http://schemas.openxmlformats.org/drawingml/2006/main">
            <a:r>
              <a:t>Estado: Registrada / issue #1</a:t>
            </a:r>
          </a:p>
          <a:p xmlns:a="http://schemas.openxmlformats.org/drawingml/2006/main">
            <a:r>
              <a:t>Necesidad: El modelo actual representa los sismos como eventos aislados y no conserva qué evento se considera réplica de otro.</a:t>
            </a:r>
          </a:p>
          <a:p xmlns:a="http://schemas.openxmlformats.org/drawingml/2006/main">
            <a:r>
              <a:t>Función: Un analista selecciona un sismo principal y consulta sus réplicas, distancias e intervalos. La ventana temporal y el radio de búsqueda son configurables.</a:t>
            </a:r>
          </a:p>
          <a:p xmlns:a="http://schemas.openxmlformats.org/drawingml/2006/main">
            <a:r>
              <a:t>Modelo: Relación recursiva ES_REPLICA_DE sobre SISMO: principal (0,N), réplica (0,1). intervalo_horas y distancia_km son derivados. El criterio de asignación debe documentarse como una regla operativa, no como una clasificación sismológica definitiva.</a:t>
            </a:r>
          </a:p>
          <a:p xmlns:a="http://schemas.openxmlformats.org/drawingml/2006/main">
            <a:r>
              <a:t>Sustento: Propuesta existente en el issue #1 y en el documento original. Atiende la necesidad identificada al contrastar los usos del artículo con el modelo.</a:t>
            </a:r>
          </a:p>
          <a:p xmlns:a="http://schemas.openxmlformats.org/drawingml/2006/main">
            <a:r>
              <a:t>Dificultad: Media: comparar eventos por tiempo, distancia y magnitud, resolver candidatos y validar el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P02 Placas tectónicas como contexto</a:t>
            </a:r>
          </a:p>
          <a:p xmlns:a="http://schemas.openxmlformats.org/drawingml/2006/main">
            <a:r>
              <a:t>Estado: Registrada / issue #2</a:t>
            </a:r>
          </a:p>
          <a:p xmlns:a="http://schemas.openxmlformats.org/drawingml/2006/main">
            <a:r>
              <a:t>Necesidad: El catálogo no conserva la placa asociada al epicentro ni el contexto de sus límites.</a:t>
            </a:r>
          </a:p>
          <a:p xmlns:a="http://schemas.openxmlformats.org/drawingml/2006/main">
            <a:r>
              <a:t>Función: Un usuario consulta eventos por placa y compara magnitudes y profundidades por región tectónica.</a:t>
            </a:r>
          </a:p>
          <a:p xmlns:a="http://schemas.openxmlformats.org/drawingml/2006/main">
            <a:r>
              <a:t>Modelo: PLACA_TECTONICA con identificador, nombre y geometría; SISMO (0,1) - OCURRE_EN - PLACA_TECTONICA (0,N). INTERACTUA_CON relaciona placas y guarda tipo_limite.</a:t>
            </a:r>
          </a:p>
          <a:p xmlns:a="http://schemas.openxmlformats.org/drawingml/2006/main">
            <a:r>
              <a:t>Sustento: Propuesta existente en el issue #2. La figura de placas del artículo y la necesidad de incorporar fuentes adicionales motivan la ampliación.</a:t>
            </a:r>
          </a:p>
          <a:p xmlns:a="http://schemas.openxmlformats.org/drawingml/2006/main">
            <a:r>
              <a:t>Dificultad: Media: obtener una fuente geográfica adecuada, documentar su precisión y resolver puntos cercanos a fronteras.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P03 Municipios y localidades expuestas</a:t>
            </a:r>
          </a:p>
          <a:p xmlns:a="http://schemas.openxmlformats.org/drawingml/2006/main">
            <a:r>
              <a:t>Estado: Registrada / issue #3</a:t>
            </a:r>
          </a:p>
          <a:p xmlns:a="http://schemas.openxmlformats.org/drawingml/2006/main">
            <a:r>
              <a:t>Necesidad: La información territorial disponible se agrega por entidad federativa y no permite distinguir localidades cercanas a un epicentro.</a:t>
            </a:r>
          </a:p>
          <a:p xmlns:a="http://schemas.openxmlformats.org/drawingml/2006/main">
            <a:r>
              <a:t>Función: Protección civil consulta localidades dentro de un radio, con población y distancia, agrupadas por municipio.</a:t>
            </a:r>
          </a:p>
          <a:p xmlns:a="http://schemas.openxmlformats.org/drawingml/2006/main">
            <a:r>
              <a:t>Modelo: MUNICIPIO depende de ENTIDAD_FEDERATIVA y LOCALIDAD de MUNICIPIO. EXPUESTA_A relaciona SISMO y LOCALIDAD en M:N; distancia_epicentro_km es derivada.</a:t>
            </a:r>
          </a:p>
          <a:p xmlns:a="http://schemas.openxmlformats.org/drawingml/2006/main">
            <a:r>
              <a:t>Sustento: Issue #3 y hallazgo comprobable en el DDL: dim_zonas solo contiene atributos de entidad y población agregada.</a:t>
            </a:r>
          </a:p>
          <a:p xmlns:a="http://schemas.openxmlformats.org/drawingml/2006/main">
            <a:r>
              <a:t>Dificultad: Alta: cargar un catálogo territorial más detallado y controlar el volumen de relaciones sismo-localidad.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P04 Identidad territorial consistente</a:t>
            </a:r>
          </a:p>
          <a:p xmlns:a="http://schemas.openxmlformats.org/drawingml/2006/main">
            <a:r>
              <a:t>Estado: Borrador para validación</a:t>
            </a:r>
          </a:p>
          <a:p xmlns:a="http://schemas.openxmlformats.org/drawingml/2006/main">
            <a:r>
              <a:t>Necesidad: La entidad federativa se repite con nombres y tipos distintos en las dimensiones, sin un catálogo común que resuelva equivalencias.</a:t>
            </a:r>
          </a:p>
          <a:p xmlns:a="http://schemas.openxmlformats.org/drawingml/2006/main">
            <a:r>
              <a:t>Función: El analista selecciona una entidad una sola vez y obtiene sismos, población y economía asociados a la misma identidad territorial.</a:t>
            </a:r>
          </a:p>
          <a:p xmlns:a="http://schemas.openxmlformats.org/drawingml/2006/main">
            <a:r>
              <a:t>Modelo: Conservar ENTIDAD_FEDERATIVA como identidad común y agregar IDENTIFICADOR_TERRITORIAL (fuente, código, vigencia). Normalizar las referencias desde sismos y censos mediante un mapeo verificable de códigos.</a:t>
            </a:r>
          </a:p>
          <a:p xmlns:a="http://schemas.openxmlformats.org/drawingml/2006/main">
            <a:r>
              <a:t>Sustento: Hallazgo en el DDL: estado es VARCHAR, entidad de zonas es INT y entidad de economía es DOUBLE PRECISION. Desarrolla la idea de catálogo único que aparecía en la presentación anterior.</a:t>
            </a:r>
          </a:p>
          <a:p xmlns:a="http://schemas.openxmlformats.org/drawingml/2006/main">
            <a:r>
              <a:t>Dificultad: Media: depurar equivalencias y migrar referencias sin confundir abreviaturas con claves oficiales.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P05 Ediciones censales comparables</a:t>
            </a:r>
          </a:p>
          <a:p xmlns:a="http://schemas.openxmlformats.org/drawingml/2006/main">
            <a:r>
              <a:t>Estado: Borrador para validación</a:t>
            </a:r>
          </a:p>
          <a:p xmlns:a="http://schemas.openxmlformats.org/drawingml/2006/main">
            <a:r>
              <a:t>Necesidad: Las dimensiones publicadas no conservan anio_censo; una actualización puede impedir distinguir mediciones de distintas ediciones.</a:t>
            </a:r>
          </a:p>
          <a:p xmlns:a="http://schemas.openxmlformats.org/drawingml/2006/main">
            <a:r>
              <a:t>Función: El usuario elige la edición censal y compara indicadores de una entidad entre periodos sin sobrescribir observaciones anteriores.</a:t>
            </a:r>
          </a:p>
          <a:p xmlns:a="http://schemas.openxmlformats.org/drawingml/2006/main">
            <a:r>
              <a:t>Modelo: Agregar EDICION_CENSAL (identificador, año, fuente, fecha de referencia) y vincular CENSO_POBLACION y CENSO_ECONOMICO a su edición. La combinación entidad-edición identifica cada observación censal.</a:t>
            </a:r>
          </a:p>
          <a:p xmlns:a="http://schemas.openxmlformats.org/drawingml/2006/main">
            <a:r>
              <a:t>Sustento: Ausencia de anio_censo en dim_zonas y dim_economia. El EER ya reconoce el año; la propuesta añade metadatos de edición y evita perderlo en el almacén.</a:t>
            </a:r>
          </a:p>
          <a:p xmlns:a="http://schemas.openxmlformats.org/drawingml/2006/main">
            <a:r>
              <a:t>Dificultad: Media: definir el grano, conservar ediciones y hacer explícita la edición usada por cada consulta de impacto.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P06 Trazabilidad de valores imputados</a:t>
            </a:r>
          </a:p>
          <a:p xmlns:a="http://schemas.openxmlformats.org/drawingml/2006/main">
            <a:r>
              <a:t>Estado: Borrador para validación</a:t>
            </a:r>
          </a:p>
          <a:p xmlns:a="http://schemas.openxmlformats.org/drawingml/2006/main">
            <a:r>
              <a:t>Necesidad: El nombre de la tabla de hechos indica imputación, pero su DDL no registra qué campo se estimó ni cómo se obtuvo el resultado.</a:t>
            </a:r>
          </a:p>
          <a:p xmlns:a="http://schemas.openxmlformats.org/drawingml/2006/main">
            <a:r>
              <a:t>Función: El analista distingue valores observados e imputados y consulta método, fecha y valor original antes de usar un indicador.</a:t>
            </a:r>
          </a:p>
          <a:p xmlns:a="http://schemas.openxmlformats.org/drawingml/2006/main">
            <a:r>
              <a:t>Modelo: Agregar REGISTRO_IMPUTACION relacionado con una ocurrencia de IMPACTA mediante agregación. Registrar campo, valor original, valor obtenido, método y versión, fecha y medida de confianza solo cuando el método la produzca.</a:t>
            </a:r>
          </a:p>
          <a:p xmlns:a="http://schemas.openxmlformats.org/drawingml/2006/main">
            <a:r>
              <a:t>Sustento: Hallazgo en fact_impacto_sismos_imputed: no hay columnas de procedencia de imputación. Desarrolla la propuesta de trazabilidad incluida en la presentación anterior.</a:t>
            </a:r>
          </a:p>
          <a:p xmlns:a="http://schemas.openxmlformats.org/drawingml/2006/main">
            <a:r>
              <a:t>Dificultad: Alta: identificar cada observación de impacto y registrar resultados reproducibles sin atribuir una confianza que no se haya calculado.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P07 Procedencia y lotes de carga</a:t>
            </a:r>
          </a:p>
          <a:p xmlns:a="http://schemas.openxmlformats.org/drawingml/2006/main">
            <a:r>
              <a:t>Estado: Borrador para validación</a:t>
            </a:r>
          </a:p>
          <a:p xmlns:a="http://schemas.openxmlformats.org/drawingml/2006/main">
            <a:r>
              <a:t>Necesidad: El modelo no permite determinar con qué archivo o actualización se incorporó un registro al sistema.</a:t>
            </a:r>
          </a:p>
          <a:p xmlns:a="http://schemas.openxmlformats.org/drawingml/2006/main">
            <a:r>
              <a:t>Función: El administrador rastrea un sismo hasta su fuente y lote, identifica la fecha de incorporación y consulta el alcance de cada carga.</a:t>
            </a:r>
          </a:p>
          <a:p xmlns:a="http://schemas.openxmlformats.org/drawingml/2006/main">
            <a:r>
              <a:t>Modelo: Agregar FUENTE_DATOS y LOTE_CARGA con referencia de archivo, hash, fechas y estado. Registrar la incorporación de SISMO a un lote. La procedencia no reemplaza el historial de correcciones manuales ni el registro de imputación.</a:t>
            </a:r>
          </a:p>
          <a:p xmlns:a="http://schemas.openxmlformats.org/drawingml/2006/main">
            <a:r>
              <a:t>Sustento: Necesidad identificada durante la revisión del DDL, que solo declara datos del dominio y carece de metadatos de carga.</a:t>
            </a:r>
          </a:p>
          <a:p xmlns:a="http://schemas.openxmlformats.org/drawingml/2006/main">
            <a:r>
              <a:t>Dificultad: Media: instrumentar el proceso de carga y definir cómo detectar duplicados y nuevas versiones de archivos.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P08 Historial de correcciones manuales</a:t>
            </a:r>
          </a:p>
          <a:p xmlns:a="http://schemas.openxmlformats.org/drawingml/2006/main">
            <a:r>
              <a:t>Estado: Borrador para validación</a:t>
            </a:r>
          </a:p>
          <a:p xmlns:a="http://schemas.openxmlformats.org/drawingml/2006/main">
            <a:r>
              <a:t>Necesidad: Una corrección de magnitud, coordenadas o referencia puede reemplazar información sin conservar quién la modificó y por qué.</a:t>
            </a:r>
          </a:p>
          <a:p xmlns:a="http://schemas.openxmlformats.org/drawingml/2006/main">
            <a:r>
              <a:t>Función: Una persona autorizada corrige un registro y el equipo puede consultar la secuencia de cambios y su justificación.</a:t>
            </a:r>
          </a:p>
          <a:p xmlns:a="http://schemas.openxmlformats.org/drawingml/2006/main">
            <a:r>
              <a:t>Modelo: Agregar REVISION_DATO con campo, valor anterior, valor nuevo, motivo, instante y editor; relacionarla con SISMO. Se documentan cambios manuales, separados de la estimación automática de datos faltantes.</a:t>
            </a:r>
          </a:p>
          <a:p xmlns:a="http://schemas.openxmlformats.org/drawingml/2006/main">
            <a:r>
              <a:t>Sustento: Necesidad identificada en el análisis de integridad: el esquema no contiene una bitácora de modificaciones del catálogo.</a:t>
            </a:r>
          </a:p>
          <a:p xmlns:a="http://schemas.openxmlformats.org/drawingml/2006/main">
            <a:r>
              <a:t>Dificultad: Media: identificar editores y registrar cambios de forma transaccional, conservando la referencia al registro afectado.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P09 Evaluación de calidad de registros</a:t>
            </a:r>
          </a:p>
          <a:p xmlns:a="http://schemas.openxmlformats.org/drawingml/2006/main">
            <a:r>
              <a:t>Estado: Borrador para validación</a:t>
            </a:r>
          </a:p>
          <a:p xmlns:a="http://schemas.openxmlformats.org/drawingml/2006/main">
            <a:r>
              <a:t>Necesidad: No se conservan resultados de validación que permitan distinguir registros completos, sospechosos y rechazados antes del análisis.</a:t>
            </a:r>
          </a:p>
          <a:p xmlns:a="http://schemas.openxmlformats.org/drawingml/2006/main">
            <a:r>
              <a:t>Función: El equipo filtra incidencias por regla o lote y conoce qué datos requieren revisión antes de generar reportes.</a:t>
            </a:r>
          </a:p>
          <a:p xmlns:a="http://schemas.openxmlformats.org/drawingml/2006/main">
            <a:r>
              <a:t>Modelo: Agregar REGLA_CALIDAD y EVALUACION_CALIDAD para relacionar SISMO con regla, versión, resultado, fecha y detalle. No sustituir el valor original ni confundir una incidencia con una corrección.</a:t>
            </a:r>
          </a:p>
          <a:p xmlns:a="http://schemas.openxmlformats.org/drawingml/2006/main">
            <a:r>
              <a:t>Sustento: Hallazgo del DDL: latitud, longitud, magnitud y demás campos no tienen CHECK ni NOT NULL; la consulta histórica muestra que es importante examinar la calidad antes de interpretar valores.</a:t>
            </a:r>
          </a:p>
          <a:p xmlns:a="http://schemas.openxmlformats.org/drawingml/2006/main">
            <a:r>
              <a:t>Dificultad: Media: acordar reglas, conservar resultados y distinguir avisos de errores que realmente impiden la carga.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P10 Comparación de escenarios de impacto</a:t>
            </a:r>
          </a:p>
          <a:p xmlns:a="http://schemas.openxmlformats.org/drawingml/2006/main">
            <a:r>
              <a:t>Estado: Borrador para validación</a:t>
            </a:r>
          </a:p>
          <a:p xmlns:a="http://schemas.openxmlformats.org/drawingml/2006/main">
            <a:r>
              <a:t>Necesidad: El hecho publicado guarda indicadores de impacto sin identificar un escenario, versión de cálculo o parámetros que expliquen diferencias entre estimaciones.</a:t>
            </a:r>
          </a:p>
          <a:p xmlns:a="http://schemas.openxmlformats.org/drawingml/2006/main">
            <a:r>
              <a:t>Función: El analista compara resultados para un mismo sismo bajo distintas ediciones censales o configuraciones, manteniendo separados los resultados calculados de los datos observados.</a:t>
            </a:r>
          </a:p>
          <a:p xmlns:a="http://schemas.openxmlformats.org/drawingml/2006/main">
            <a:r>
              <a:t>Modelo: Agregar ESCENARIO_IMPACTO y RESULTADO_ESCENARIO relacionados con SISMO y ENTIDAD_FEDERATIVA. Guardar versión de cálculo, parámetros, edición de datos, fecha e indicadores con unidades definidas.</a:t>
            </a:r>
          </a:p>
          <a:p xmlns:a="http://schemas.openxmlformats.org/drawingml/2006/main">
            <a:r>
              <a:t>Sustento: Necesidad identificada a partir de los indicadores del hecho y de la ausencia de metadatos de escenario en su DDL. No se afirma que las estimaciones sean predicciones validadas.</a:t>
            </a:r>
          </a:p>
          <a:p xmlns:a="http://schemas.openxmlformats.org/drawingml/2006/main">
            <a:r>
              <a:t>Dificultad: Alta: definir una metodología reproducible y comparar únicamente resultados de grano y unidades compatibles.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P11 Observaciones por estación</a:t>
            </a:r>
          </a:p>
          <a:p xmlns:a="http://schemas.openxmlformats.org/drawingml/2006/main">
            <a:r>
              <a:t>Estado: Borrador para validación</a:t>
            </a:r>
          </a:p>
          <a:p xmlns:a="http://schemas.openxmlformats.org/drawingml/2006/main">
            <a:r>
              <a:t>Necesidad: El catálogo describe epicentros, pero no conserva mediciones instrumentales asociadas a una estación y a un evento.</a:t>
            </a:r>
          </a:p>
          <a:p xmlns:a="http://schemas.openxmlformats.org/drawingml/2006/main">
            <a:r>
              <a:t>Función: El investigador consulta estaciones que registraron un evento y examina sus mediciones con unidades y procedencia explícitas.</a:t>
            </a:r>
          </a:p>
          <a:p xmlns:a="http://schemas.openxmlformats.org/drawingml/2006/main">
            <a:r>
              <a:t>Modelo: Agregar ESTACION y OBSERVACION_INSTRUMENTAL entre SISMO y ESTACION, con instante, variable, valor, unidad y fuente. Un evento y una estación pueden tener varias observaciones.</a:t>
            </a:r>
          </a:p>
          <a:p xmlns:a="http://schemas.openxmlformats.org/drawingml/2006/main">
            <a:r>
              <a:t>Sustento: Necesidad de análisis planteada en este borrador. Requiere conseguir y evaluar una fuente de mediciones; esos datos no están en la base actual y no se inventan para la propuesta.</a:t>
            </a:r>
          </a:p>
          <a:p xmlns:a="http://schemas.openxmlformats.org/drawingml/2006/main">
            <a:r>
              <a:t>Dificultad: Alta: conseguir una fuente compatible, vincular eventos y estaciones y evitar mezclar magnitudes, intensidad y mediciones físicas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P12 Alertas por criterios configurables</a:t>
            </a:r>
          </a:p>
          <a:p xmlns:a="http://schemas.openxmlformats.org/drawingml/2006/main">
            <a:r>
              <a:t>Estado: Borrador para validación</a:t>
            </a:r>
          </a:p>
          <a:p xmlns:a="http://schemas.openxmlformats.org/drawingml/2006/main">
            <a:r>
              <a:t>Necesidad: Las consultas manuales no conservan qué eventos cumplieron una regla de interés ni a quién corresponde revisar el resultado.</a:t>
            </a:r>
          </a:p>
          <a:p xmlns:a="http://schemas.openxmlformats.org/drawingml/2006/main">
            <a:r>
              <a:t>Función: Un observador configura umbrales de magnitud, profundidad o entidad y consulta un historial de coincidencias y atención. La función sirve para seguimiento del catálogo, sin presentarse como alerta temprana.</a:t>
            </a:r>
          </a:p>
          <a:p xmlns:a="http://schemas.openxmlformats.org/drawingml/2006/main">
            <a:r>
              <a:t>Modelo: Agregar OBSERVADOR, REGLA_ALERTA y ALERTA_GENERADA; vincular cada alerta con SISMO, regla y fecha de evaluación, y registrar estado de atención. No se envían mensajes reales al elaborar esta propuesta.</a:t>
            </a:r>
          </a:p>
          <a:p xmlns:a="http://schemas.openxmlformats.org/drawingml/2006/main">
            <a:r>
              <a:t>Sustento: Necesidad de seguimiento identificada a partir de las consultas de Sismos. La evaluación posterior de un registro es distinta de un sistema de aviso previo a la llegada de ondas.</a:t>
            </a:r>
          </a:p>
          <a:p xmlns:a="http://schemas.openxmlformats.org/drawingml/2006/main">
            <a:r>
              <a:t>Dificultad: Media: versionar reglas, evitar duplicados y conservar el motivo por el que un evento cumplió el criterio.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levantamiento.md, eer.png, correspondencia-con-el-esquema.pdf, propuestas/propuestas-de-mejora.pdf. Los issues #1–#3 están en Proyecto-Asig-Sismos. No se atribuye validación de compañeros ni ejecución del cambio de Práctica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18202899d943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05ba20dbb42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c93f02d98848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df7d4c7c0c4a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918f5ecc7e405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3f0a34330549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43C6EF-3BB1-4F00-989A-80B5FDED09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DF69843-FBFE-4C78-9A4F-2041313FEA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8220ABC-5766-4637-9936-5E3B80BF1F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ACF38B-116E-4EAA-83E3-A5F126CFE1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212935E-8152-4F3E-BE3D-DDA715D63A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E79ADDD-568A-4CCC-900E-7102A55139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5416C4-0109-442B-8399-8E387EAF46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51F4E7D-0CC8-4A4A-9A26-49C01BAACF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CD321C-8116-45A1-87A0-AF1F41A79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61158E-7808-4168-9E20-CDB143295B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00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28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57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858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3144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5430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7716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000250" indent="-17145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2c36c81d704e99" /><Relationship Type="http://schemas.openxmlformats.org/officeDocument/2006/relationships/slideLayout" Target="/ppt/slideLayouts/slideLayout1.xml" Id="R5e4d8dc22f464f45" /><Relationship Type="http://schemas.openxmlformats.org/officeDocument/2006/relationships/slideLayout" Target="/ppt/slideLayouts/slideLayout2.xml" Id="R23262c351e9a4314" /><Relationship Type="http://schemas.openxmlformats.org/officeDocument/2006/relationships/slideLayout" Target="/ppt/slideLayouts/slideLayout3.xml" Id="Raf589dd8e35b4289" /><Relationship Type="http://schemas.openxmlformats.org/officeDocument/2006/relationships/slideLayout" Target="/ppt/slideLayouts/slideLayout4.xml" Id="Rf5265a9ac9014f04" /><Relationship Type="http://schemas.openxmlformats.org/officeDocument/2006/relationships/slideLayout" Target="/ppt/slideLayouts/slideLayout5.xml" Id="R440fdebb71fd4ebe" /><Relationship Type="http://schemas.openxmlformats.org/officeDocument/2006/relationships/slideLayout" Target="/ppt/slideLayouts/slideLayout6.xml" Id="R294c1d3216bf41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4d8dc22f464f45"/>
    <p:sldLayoutId xmlns:r="http://schemas.openxmlformats.org/officeDocument/2006/relationships" id="2147483650" r:id="R23262c351e9a4314"/>
    <p:sldLayoutId xmlns:r="http://schemas.openxmlformats.org/officeDocument/2006/relationships" id="2147483651" r:id="Raf589dd8e35b4289"/>
    <p:sldLayoutId xmlns:r="http://schemas.openxmlformats.org/officeDocument/2006/relationships" id="2147483652" r:id="Rf5265a9ac9014f04"/>
    <p:sldLayoutId xmlns:r="http://schemas.openxmlformats.org/officeDocument/2006/relationships" id="2147483653" r:id="R440fdebb71fd4ebe"/>
    <p:sldLayoutId xmlns:r="http://schemas.openxmlformats.org/officeDocument/2006/relationships" id="2147483654" r:id="R294c1d3216bf41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af510bb8104679" /><Relationship Type="http://schemas.openxmlformats.org/officeDocument/2006/relationships/notesSlide" Target="/ppt/notesSlides/notesSlide1.xml" Id="Re5aefdd6292241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34772fb8dd4ddb" /><Relationship Type="http://schemas.openxmlformats.org/officeDocument/2006/relationships/notesSlide" Target="/ppt/notesSlides/notesSlide2.xml" Id="R82bab5dc29504c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30089c41184ee5" /><Relationship Type="http://schemas.openxmlformats.org/officeDocument/2006/relationships/notesSlide" Target="/ppt/notesSlides/notesSlide3.xml" Id="R157303bea2a043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a8af1311894c8d" /><Relationship Type="http://schemas.openxmlformats.org/officeDocument/2006/relationships/image" Target="/ppt/media/image.png" Id="Rb3397aeb68604f87" /><Relationship Type="http://schemas.openxmlformats.org/officeDocument/2006/relationships/notesSlide" Target="/ppt/notesSlides/notesSlide4.xml" Id="R1cca8d96676742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a152e273e04b7f" /><Relationship Type="http://schemas.openxmlformats.org/officeDocument/2006/relationships/image" Target="/ppt/media/image.jpeg" Id="Rc50ff65b72c4461c" /><Relationship Type="http://schemas.openxmlformats.org/officeDocument/2006/relationships/notesSlide" Target="/ppt/notesSlides/notesSlide5.xml" Id="Rc09d3b3e48414a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40fe54d67f40cd" /><Relationship Type="http://schemas.openxmlformats.org/officeDocument/2006/relationships/image" Target="/ppt/media/image2.png" Id="R47f21ab833fa4768" /><Relationship Type="http://schemas.openxmlformats.org/officeDocument/2006/relationships/notesSlide" Target="/ppt/notesSlides/notesSlide6.xml" Id="Rbe3240fcd50743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a286934e1145e1" /><Relationship Type="http://schemas.openxmlformats.org/officeDocument/2006/relationships/notesSlide" Target="/ppt/notesSlides/notesSlide7.xml" Id="Rc2993bcdea4a45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f26ad01cd94c3a" /><Relationship Type="http://schemas.openxmlformats.org/officeDocument/2006/relationships/notesSlide" Target="/ppt/notesSlides/notesSlide8.xml" Id="R3b4c188270004d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89bbdcf99d4575" /><Relationship Type="http://schemas.openxmlformats.org/officeDocument/2006/relationships/notesSlide" Target="/ppt/notesSlides/notesSlide9.xml" Id="Re36dfc2ef5114b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8c68420b6e4dfc" /><Relationship Type="http://schemas.openxmlformats.org/officeDocument/2006/relationships/notesSlide" Target="/ppt/notesSlides/notesSlide10.xml" Id="Rcf339b2b061641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9a7b255a2e4d36" /><Relationship Type="http://schemas.openxmlformats.org/officeDocument/2006/relationships/notesSlide" Target="/ppt/notesSlides/notesSlide11.xml" Id="R7f02360e1e5640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38525aa2ba47a6" /><Relationship Type="http://schemas.openxmlformats.org/officeDocument/2006/relationships/notesSlide" Target="/ppt/notesSlides/notesSlide12.xml" Id="Rb4fe20b2956b42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952CD-D038-4D01-A6CD-1CD1EDBC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BASES DE DATOS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1A2644-7646-4E03-A14E-5C27F3ED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"/>
            <a:ext cx="838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Sismos: proyecto asignado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B9855-30C7-4627-804C-19385B6C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Modelo Entidad–Relación Extendido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51FAD-7D99-443A-A3B0-84399F1D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96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3CV4 · Sismos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DC30E-76FB-4EE4-BBF5-0B2573B4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96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6B886-D467-4EAD-AA9E-99A488FA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85975"/>
            <a:ext cx="8191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Damas Garnica Adrian</a:t>
            </a:r>
          </a:p>
          <a:p xmlns:a="http://schemas.openxmlformats.org/drawingml/2006/main">
            <a: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Esparza Ramón Fernando Adán</a:t>
            </a:r>
          </a:p>
          <a:p xmlns:a="http://schemas.openxmlformats.org/drawingml/2006/main">
            <a: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Ramos Padrón Jesus Emmanuel</a:t>
            </a:r>
          </a:p>
          <a:p xmlns:a="http://schemas.openxmlformats.org/drawingml/2006/main">
            <a: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Hernandez Barrios Samuel Rodrigo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94243-8A79-4562-A8BC-75DAC34F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229100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Ingeniería en Sistemas Computacionales · 18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991102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F16CC-3201-4EA5-837D-5601CA46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BASES DE DATOS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1F5AC-54B2-4921-B66F-EC15E553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"/>
            <a:ext cx="838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Contenido del bloque asignado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F9D8B-A242-44FD-93DC-7891824D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Presentación independiente del proyecto de música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BE775-B40B-4D10-8626-0E3AFD35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96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3CV4 · Sismos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8C735-C042-46B9-BF7E-5969141F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96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A1A4A-4445-4E8D-98E8-1817CC2D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57375"/>
            <a:ext cx="823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Problema y datos de Sismos.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C6407-6D82-4374-9B04-810F9F68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619375"/>
            <a:ext cx="823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Demo local, consulta SQL y EER conceptual.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3A0EB-84D2-4791-9B57-D129CB67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381375"/>
            <a:ext cx="8239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Correspondencia del esquema y propuestas del equipo.</a:t>
            </a:r>
          </a:p>
        </p:txBody>
      </p:sp>
    </p:spTree>
    <p:extLst>
      <p:ext uri="{BB962C8B-B14F-4D97-AF65-F5344CB8AC3E}">
        <p14:creationId xmlns:p14="http://schemas.microsoft.com/office/powerpoint/2010/main" val="2945278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FB1A3-CD62-434F-AE43-20977EE0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BASES DE DATOS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52E5D-0C40-4AA4-8C97-3F3F0858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"/>
            <a:ext cx="838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Sismos: del catálogo al análisis territorial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24FC9-BF49-425E-9947-94064922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Proyecto asignado: Seismic Data Visualization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56C82-5907-4733-A5C6-7F1726E0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96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3CV4 · Sismos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38753-03DE-4E93-A326-C5A4FDF1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96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0FA90-19C7-4E25-82C8-9B470B33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47850"/>
            <a:ext cx="8239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Pregunta: ¿cómo relacionar los eventos con la población y la economía de una entidad?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4A639-BC35-442E-B233-F53CF7CE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686050"/>
            <a:ext cx="8239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El almacén combina sismos, tiempo, zonas y economía en un hecho de impacto.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317D8-CA87-4D95-8231-24C42E8E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524250"/>
            <a:ext cx="8239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La interpretación exige conservar el grano, las unidades y la procedencia de los valores.</a:t>
            </a:r>
          </a:p>
        </p:txBody>
      </p:sp>
    </p:spTree>
    <p:extLst>
      <p:ext uri="{BB962C8B-B14F-4D97-AF65-F5344CB8AC3E}">
        <p14:creationId xmlns:p14="http://schemas.microsoft.com/office/powerpoint/2010/main" val="4512674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FBB21-518C-46D5-8954-A1565DB6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BASES DE DATOS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15400-F0E0-44A1-9692-C88CFAC1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"/>
            <a:ext cx="838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Evidencia histórica de consulta 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79BAA-4660-4314-8E20-E813F895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La captura conservada devuelve cinco filas de dim_sismos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BA6F6-1682-4B5D-9231-1234A4EC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96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3CV4 · Sismos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5C218-3DFF-4070-A585-453EF7B7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96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E7A40-51B8-4A03-AD48-0FD06E6238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97aeb68604f87"/>
          <a:stretch xmlns:a="http://schemas.openxmlformats.org/drawingml/2006/main"/>
        </p:blipFill>
        <p:spPr>
          <a:xfrm xmlns:a="http://schemas.openxmlformats.org/drawingml/2006/main">
            <a:off x="2246929" y="1704975"/>
            <a:ext cx="4650142" cy="2905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5995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B2E5D-A526-4622-A35D-1936C7AD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BASES DE DATOS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E5D2E-25FF-4476-99EC-382BC953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"/>
            <a:ext cx="838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Demo local con datos cargados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8C1F4-6E9D-4E62-AC92-79D8F6E3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18/10/2026 · Año 2020, magnitud mínima 6: tres eventos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03DB5-4660-4501-8DC1-4C9371A0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96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3CV4 · Sismos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64796-28E1-4DC7-B045-C25F6119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96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02711-92C4-4336-AAB5-CE87AFE3AE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ff65b72c4461c"/>
          <a:stretch xmlns:a="http://schemas.openxmlformats.org/drawingml/2006/main"/>
        </p:blipFill>
        <p:spPr>
          <a:xfrm xmlns:a="http://schemas.openxmlformats.org/drawingml/2006/main">
            <a:off x="2092791" y="1781175"/>
            <a:ext cx="4958418" cy="2790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661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FEAB7-A4AE-427F-89B5-C2EFD0B1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BASES DE DATOS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19B22-A1C0-4DA0-A1BC-B1E134C5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"/>
            <a:ext cx="838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Modelo conceptual del proyecto asignado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FF62F-59A0-4BDB-BD25-C9469898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Sismos y censos dependen de su contexto territorial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D242B-09FC-4387-9C15-5C5DD51A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96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3CV4 · Sismos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F6B33-A14D-4375-9B02-1A4D5F3C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96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74110-1774-405B-B268-3BC5E4EBED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21ab833fa4768"/>
          <a:stretch xmlns:a="http://schemas.openxmlformats.org/drawingml/2006/main"/>
        </p:blipFill>
        <p:spPr>
          <a:xfrm xmlns:a="http://schemas.openxmlformats.org/drawingml/2006/main">
            <a:off x="1682346" y="1619250"/>
            <a:ext cx="5779309" cy="3000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2051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AAB30-C42F-49FA-A0AF-32800200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BASES DE DATOS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3074B-D90D-485E-9040-9414EC8E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"/>
            <a:ext cx="838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Correspondencia con el almacén publicado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97ADF-8450-478D-9A3E-C5E29391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El modelo conceptual expresa reglas que el esquema físico puede perder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3429B-8B91-46F4-8441-063008CF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96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3CV4 · Sismos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D5720-EA4D-441B-9E4C-80AF5A0A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96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358A8-469B-4F44-9B62-7838B316575F}"/>
              </a:ext>
            </a:extLst>
          </p:cNvPr>
          <p:cNvGraphicFramePr/>
          <p:nvPr/>
        </p:nvGraphicFramePr>
        <p:xfrm>
          <a:off xmlns:a="http://schemas.openxmlformats.org/drawingml/2006/main" x="381000" y="1809750"/>
          <a:ext xmlns:a="http://schemas.openxmlformats.org/drawingml/2006/main" cx="83820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2762250"/>
                <a:gridCol w="3190875"/>
              </a:tblGrid>
              <a:tr h="4524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Dominio conceptual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4DADF"/>
                      </a:solidFill>
                      <a:prstDash val="solid"/>
                    </a:lnL>
                    <a:lnR w="4763">
                      <a:solidFill>
                        <a:srgbClr val="D4DADF"/>
                      </a:solidFill>
                      <a:prstDash val="solid"/>
                    </a:lnR>
                    <a:lnT w="4763">
                      <a:solidFill>
                        <a:srgbClr val="D4DADF"/>
                      </a:solidFill>
                      <a:prstDash val="solid"/>
                    </a:lnT>
                    <a:lnB w="4763">
                      <a:solidFill>
                        <a:srgbClr val="D4DADF"/>
                      </a:solidFill>
                      <a:prstDash val="solid"/>
                    </a:lnB>
                    <a:solidFill>
                      <a:srgbClr val="80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Tabla publicada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4DADF"/>
                      </a:solidFill>
                      <a:prstDash val="solid"/>
                    </a:lnR>
                    <a:lnT w="4763">
                      <a:solidFill>
                        <a:srgbClr val="D4DADF"/>
                      </a:solidFill>
                      <a:prstDash val="solid"/>
                    </a:lnT>
                    <a:lnB w="4763">
                      <a:solidFill>
                        <a:srgbClr val="D4DADF"/>
                      </a:solidFill>
                      <a:prstDash val="solid"/>
                    </a:lnB>
                    <a:solidFill>
                      <a:srgbClr val="80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Punto para explicar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4DADF"/>
                      </a:solidFill>
                      <a:prstDash val="solid"/>
                    </a:lnR>
                    <a:lnT w="4763">
                      <a:solidFill>
                        <a:srgbClr val="D4DADF"/>
                      </a:solidFill>
                      <a:prstDash val="solid"/>
                    </a:lnT>
                    <a:lnB w="4763">
                      <a:solidFill>
                        <a:srgbClr val="D4DADF"/>
                      </a:solidFill>
                      <a:prstDash val="solid"/>
                    </a:lnB>
                    <a:solidFill>
                      <a:srgbClr val="802D42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4"/>
                          </a:solidFill>
                          <a:latin typeface="Arial"/>
                          <a:ea typeface="Arial"/>
                          <a:cs typeface="Arial"/>
                        </a:rPr>
                        <a:t>SISMO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4DADF"/>
                      </a:solidFill>
                      <a:prstDash val="solid"/>
                    </a:lnL>
                    <a:lnR w="4763">
                      <a:solidFill>
                        <a:srgbClr val="D4DADF"/>
                      </a:solidFill>
                      <a:prstDash val="solid"/>
                    </a:lnR>
                    <a:lnB w="4763">
                      <a:solidFill>
                        <a:srgbClr val="D4DADF"/>
                      </a:solidFill>
                      <a:prstDash val="solid"/>
                    </a:lnB>
                    <a:solidFill>
                      <a:srgbClr val="EAED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4"/>
                          </a:solidFill>
                          <a:latin typeface="Arial"/>
                          <a:ea typeface="Arial"/>
                          <a:cs typeface="Arial"/>
                        </a:rPr>
                        <a:t>dim_sismos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4DADF"/>
                      </a:solidFill>
                      <a:prstDash val="solid"/>
                    </a:lnR>
                    <a:lnB w="4763">
                      <a:solidFill>
                        <a:srgbClr val="D4DADF"/>
                      </a:solidFill>
                      <a:prstDash val="solid"/>
                    </a:lnB>
                    <a:solidFill>
                      <a:srgbClr val="EAED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4"/>
                          </a:solidFill>
                          <a:latin typeface="Arial"/>
                          <a:ea typeface="Arial"/>
                          <a:cs typeface="Arial"/>
                        </a:rPr>
                        <a:t>Estado abreviado y nombre redundantes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4DADF"/>
                      </a:solidFill>
                      <a:prstDash val="solid"/>
                    </a:lnR>
                    <a:lnB w="4763">
                      <a:solidFill>
                        <a:srgbClr val="D4DADF"/>
                      </a:solidFill>
                      <a:prstDash val="solid"/>
                    </a:lnB>
                    <a:solidFill>
                      <a:srgbClr val="EAEDE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4"/>
                          </a:solidFill>
                          <a:latin typeface="Arial"/>
                          <a:ea typeface="Arial"/>
                          <a:cs typeface="Arial"/>
                        </a:rPr>
                        <a:t>Fecha del evento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4DADF"/>
                      </a:solidFill>
                      <a:prstDash val="solid"/>
                    </a:lnL>
                    <a:lnR w="4763">
                      <a:solidFill>
                        <a:srgbClr val="D4DADF"/>
                      </a:solidFill>
                      <a:prstDash val="solid"/>
                    </a:lnR>
                    <a:lnB w="4763">
                      <a:solidFill>
                        <a:srgbClr val="D4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4"/>
                          </a:solidFill>
                          <a:latin typeface="Arial"/>
                          <a:ea typeface="Arial"/>
                          <a:cs typeface="Arial"/>
                        </a:rPr>
                        <a:t>dim_tiempo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4DADF"/>
                      </a:solidFill>
                      <a:prstDash val="solid"/>
                    </a:lnR>
                    <a:lnB w="4763">
                      <a:solidFill>
                        <a:srgbClr val="D4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4"/>
                          </a:solidFill>
                          <a:latin typeface="Arial"/>
                          <a:ea typeface="Arial"/>
                          <a:cs typeface="Arial"/>
                        </a:rPr>
                        <a:t>Dimensión separada para análisis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4DADF"/>
                      </a:solidFill>
                      <a:prstDash val="solid"/>
                    </a:lnR>
                    <a:lnB w="4763">
                      <a:solidFill>
                        <a:srgbClr val="D4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4"/>
                          </a:solidFill>
                          <a:latin typeface="Arial"/>
                          <a:ea typeface="Arial"/>
                          <a:cs typeface="Arial"/>
                        </a:rPr>
                        <a:t>Entidad / censo poblacional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4DADF"/>
                      </a:solidFill>
                      <a:prstDash val="solid"/>
                    </a:lnL>
                    <a:lnR w="4763">
                      <a:solidFill>
                        <a:srgbClr val="D4DADF"/>
                      </a:solidFill>
                      <a:prstDash val="solid"/>
                    </a:lnR>
                    <a:lnB w="4763">
                      <a:solidFill>
                        <a:srgbClr val="D4DADF"/>
                      </a:solidFill>
                      <a:prstDash val="solid"/>
                    </a:lnB>
                    <a:solidFill>
                      <a:srgbClr val="EAED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4"/>
                          </a:solidFill>
                          <a:latin typeface="Arial"/>
                          <a:ea typeface="Arial"/>
                          <a:cs typeface="Arial"/>
                        </a:rPr>
                        <a:t>dim_zonas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4DADF"/>
                      </a:solidFill>
                      <a:prstDash val="solid"/>
                    </a:lnR>
                    <a:lnB w="4763">
                      <a:solidFill>
                        <a:srgbClr val="D4DADF"/>
                      </a:solidFill>
                      <a:prstDash val="solid"/>
                    </a:lnB>
                    <a:solidFill>
                      <a:srgbClr val="EAED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4"/>
                          </a:solidFill>
                          <a:latin typeface="Arial"/>
                          <a:ea typeface="Arial"/>
                          <a:cs typeface="Arial"/>
                        </a:rPr>
                        <a:t>Año censal no conservado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4DADF"/>
                      </a:solidFill>
                      <a:prstDash val="solid"/>
                    </a:lnR>
                    <a:lnB w="4763">
                      <a:solidFill>
                        <a:srgbClr val="D4DADF"/>
                      </a:solidFill>
                      <a:prstDash val="solid"/>
                    </a:lnB>
                    <a:solidFill>
                      <a:srgbClr val="EAEDE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4"/>
                          </a:solidFill>
                          <a:latin typeface="Arial"/>
                          <a:ea typeface="Arial"/>
                          <a:cs typeface="Arial"/>
                        </a:rPr>
                        <a:t>Censo económico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4DADF"/>
                      </a:solidFill>
                      <a:prstDash val="solid"/>
                    </a:lnL>
                    <a:lnR w="4763">
                      <a:solidFill>
                        <a:srgbClr val="D4DADF"/>
                      </a:solidFill>
                      <a:prstDash val="solid"/>
                    </a:lnR>
                    <a:lnB w="4763">
                      <a:solidFill>
                        <a:srgbClr val="D4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4"/>
                          </a:solidFill>
                          <a:latin typeface="Arial"/>
                          <a:ea typeface="Arial"/>
                          <a:cs typeface="Arial"/>
                        </a:rPr>
                        <a:t>dim_economia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4DADF"/>
                      </a:solidFill>
                      <a:prstDash val="solid"/>
                    </a:lnR>
                    <a:lnB w="4763">
                      <a:solidFill>
                        <a:srgbClr val="D4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4"/>
                          </a:solidFill>
                          <a:latin typeface="Arial"/>
                          <a:ea typeface="Arial"/>
                          <a:cs typeface="Arial"/>
                        </a:rPr>
                        <a:t>Edición censal no conservada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4DADF"/>
                      </a:solidFill>
                      <a:prstDash val="solid"/>
                    </a:lnR>
                    <a:lnB w="4763">
                      <a:solidFill>
                        <a:srgbClr val="D4DA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4"/>
                          </a:solidFill>
                          <a:latin typeface="Arial"/>
                          <a:ea typeface="Arial"/>
                          <a:cs typeface="Arial"/>
                        </a:rPr>
                        <a:t>Relación de impacto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4DADF"/>
                      </a:solidFill>
                      <a:prstDash val="solid"/>
                    </a:lnL>
                    <a:lnR w="4763">
                      <a:solidFill>
                        <a:srgbClr val="D4DADF"/>
                      </a:solidFill>
                      <a:prstDash val="solid"/>
                    </a:lnR>
                    <a:lnB w="4763">
                      <a:solidFill>
                        <a:srgbClr val="D4DADF"/>
                      </a:solidFill>
                      <a:prstDash val="solid"/>
                    </a:lnB>
                    <a:solidFill>
                      <a:srgbClr val="EAED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4"/>
                          </a:solidFill>
                          <a:latin typeface="Arial"/>
                          <a:ea typeface="Arial"/>
                          <a:cs typeface="Arial"/>
                        </a:rPr>
                        <a:t>fact_impacto_sismos_imputed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4DADF"/>
                      </a:solidFill>
                      <a:prstDash val="solid"/>
                    </a:lnR>
                    <a:lnB w="4763">
                      <a:solidFill>
                        <a:srgbClr val="D4DADF"/>
                      </a:solidFill>
                      <a:prstDash val="solid"/>
                    </a:lnB>
                    <a:solidFill>
                      <a:srgbClr val="EAED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3244"/>
                          </a:solidFill>
                          <a:latin typeface="Arial"/>
                          <a:ea typeface="Arial"/>
                          <a:cs typeface="Arial"/>
                        </a:rPr>
                        <a:t>Hecho sin PK declarada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4DADF"/>
                      </a:solidFill>
                      <a:prstDash val="solid"/>
                    </a:lnR>
                    <a:lnB w="4763">
                      <a:solidFill>
                        <a:srgbClr val="D4DADF"/>
                      </a:solidFill>
                      <a:prstDash val="solid"/>
                    </a:lnB>
                    <a:solidFill>
                      <a:srgbClr val="EAED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16601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0EC37-1C9F-43E2-92A1-0DD1B2C1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BASES DE DATOS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3C8D7-F98A-45F8-8345-3B8C688A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"/>
            <a:ext cx="838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Tres propuestas registradas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4876C-2D78-4CB4-BE05-978E688D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Hernandez Barrios Samuel Rodrigo · Issues #1, #2 y #3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2A9F43-4E16-4412-A375-1F7D7506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96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3CV4 · Sismos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7294A-5AF9-414F-9B7F-A21E0124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96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2201B-69E0-47FE-95F0-21754FFC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2880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P01  Réplicas y secuencias sísmicas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DF267-1B19-4080-B891-14474AFB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7170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SISMO: principal / SISMO: réplica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F9E10-00BC-4B31-A7BA-B83A43A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33675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P02  Placas tectónicas como contexto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2F9AA-598D-4ECE-A498-53E9D928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076575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SISMO / PLACA_TECTONICA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24A9A-69C0-49A0-B013-13D75380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3855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P03  Municipios y localidades expuestas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ED4B3-01F3-4CB6-B7FE-9DFC0DE0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98145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SISMO / LOCALIDAD</a:t>
            </a:r>
          </a:p>
        </p:txBody>
      </p:sp>
    </p:spTree>
    <p:extLst>
      <p:ext uri="{BB962C8B-B14F-4D97-AF65-F5344CB8AC3E}">
        <p14:creationId xmlns:p14="http://schemas.microsoft.com/office/powerpoint/2010/main" val="15165329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F7A41-432D-4893-A6D3-E627A72A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BASES DE DATOS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7B503-2285-4818-8761-C2F2AEC1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"/>
            <a:ext cx="838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Tres propuestas para validar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B4672-69AD-4CEF-95C0-6560B68A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Damas Garnica Adrian · Revisor sugerido, pendiente de aceptación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9CE75-993E-4201-B686-D4754B99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96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3CV4 · Sismos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1CE6B-0086-494B-BCF5-15C1D87E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96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07D9F-7CEF-40F9-B4AE-063196ED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2880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P04  Identidad territorial consistente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86837-A913-4F4D-8585-9DC2949C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7170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ENTIDAD_FEDERATIVA / IDENTIFICADOR_TERRITORIAL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B7017-9DC0-4018-8729-8099410D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33675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P05  Ediciones censales comparables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43142-C7D0-4B50-9FD7-60891670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076575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CENSO_POBLACION / EDICION_CENSAL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5C195-8881-4D1C-8E52-ACDDE7F4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3855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P06  Trazabilidad de valores imputados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B075D-2977-4BF8-8EAD-3716B919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98145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[SISMO - IMPACTA - ENTIDAD] / REGISTRO_IMPUTACION</a:t>
            </a:r>
          </a:p>
        </p:txBody>
      </p:sp>
    </p:spTree>
    <p:extLst>
      <p:ext uri="{BB962C8B-B14F-4D97-AF65-F5344CB8AC3E}">
        <p14:creationId xmlns:p14="http://schemas.microsoft.com/office/powerpoint/2010/main" val="9942868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1674E6-25D5-4E98-A091-4F334B1B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BASES DE DATOS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C553A-A488-413D-8CB4-D677B706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"/>
            <a:ext cx="838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Tres propuestas para validar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0C1DAC-293E-4478-8783-E506A8F5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Esparza Ramón Fernando Adán · Revisor sugerido, pendiente de aceptación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5A7B4-87BE-4EF3-9CA0-EE5FABA0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96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3CV4 · Sismos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861B8-4E4E-4EA8-B2B2-3239A8BF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96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DAF30-4413-456B-8721-0C01D0F5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2880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P07  Procedencia y lotes de carga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96196-041E-4754-908A-6B42794D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7170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SISMO / LOTE_CARGA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C6FC0-2B79-4E69-BE59-FDFC3EEB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33675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P08  Historial de correcciones manuales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02F40-E2EB-48CB-952F-D9297D85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076575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SISMO / REVISION_DATO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CA16F-DD58-49A6-978F-E726838F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3855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P09  Evaluación de calidad de registros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CAFD4-2429-46D9-9CF5-2A983A5C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98145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SISMO / EVALUACION_CALIDAD</a:t>
            </a:r>
          </a:p>
        </p:txBody>
      </p:sp>
    </p:spTree>
    <p:extLst>
      <p:ext uri="{BB962C8B-B14F-4D97-AF65-F5344CB8AC3E}">
        <p14:creationId xmlns:p14="http://schemas.microsoft.com/office/powerpoint/2010/main" val="2129287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C3A30-00E8-4E02-B7B2-964C8BF1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BASES DE DATOS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60C8D-3CD6-4DE2-B643-2D7D9413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"/>
            <a:ext cx="838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Tres propuestas para validar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EBB6B-D726-4D8E-96F8-47E61FBA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Ramos Padrón Jesus Emmanuel · Revisor sugerido, pendiente de aceptación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E47C35-CD50-4BFF-BB12-A328A3B4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96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3CV4 · Sismos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A8D58-4421-4172-A3FE-A190DE9A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96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DF69E-4D60-4A73-914D-E84F3BB1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2880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P10  Comparación de escenarios de impacto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4D7F6-7583-436D-8A16-938156FB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7170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SISMO / RESULTADO_ESCENARIO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849A8-4AD4-494F-943F-46A4451C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733675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P11  Observaciones por estación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2F7D0-E19D-48FA-9CFB-F1262C99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076575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SISMO / OBSERVACION_INSTRUMENTAL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CF95E-8438-4AC7-A52A-8AF52B5F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63855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P12  Alertas por criterios configurables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12B90-F108-4BB3-89D1-86A6865C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98145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SISMO / ALERTA_GENERADA</a:t>
            </a:r>
          </a:p>
        </p:txBody>
      </p:sp>
    </p:spTree>
    <p:extLst>
      <p:ext uri="{BB962C8B-B14F-4D97-AF65-F5344CB8AC3E}">
        <p14:creationId xmlns:p14="http://schemas.microsoft.com/office/powerpoint/2010/main" val="20237828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E7950-3C8C-40B3-AADA-AC12689C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9075"/>
            <a:ext cx="790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BASES DE DATOS · PRÁCTICA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5F575-0C5E-4B70-8CAB-0D2E58C3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1500"/>
            <a:ext cx="838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3244"/>
                </a:solidFill>
                <a:latin typeface="Arial"/>
                <a:ea typeface="Arial"/>
                <a:cs typeface="Arial"/>
              </a:rPr>
              <a:t>Estado de la entrega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DD460-E10C-48B9-8473-9684688E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Documentación recuperada y evidencias actuales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A6030-DD9D-48B3-B6E1-F468B7E0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1965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9667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6678"/>
                </a:solidFill>
                <a:latin typeface="Arial"/>
                <a:ea typeface="Arial"/>
                <a:cs typeface="Arial"/>
              </a:rPr>
              <a:t>3CV4 · Sismos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4CBCF-AA72-4957-A6C7-6918BD62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196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802D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02D4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C0B42-3053-4332-B7ED-3FB92AED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57375"/>
            <a:ext cx="8239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Demo local y consulta SQL comprobadas.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4AE9E-4254-4093-A887-3D141A2A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676525"/>
            <a:ext cx="8239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Doce propuestas documentadas; nueve por validar.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4EEF8-3C70-472C-A819-088AE75C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495675"/>
            <a:ext cx="8239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4324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244"/>
                </a:solidFill>
                <a:latin typeface="Arial"/>
                <a:ea typeface="Arial"/>
                <a:cs typeface="Arial"/>
              </a:rPr>
              <a:t>Pendiente: nueve issues y revisión del compañero.</a:t>
            </a:r>
          </a:p>
        </p:txBody>
      </p:sp>
    </p:spTree>
    <p:extLst>
      <p:ext uri="{BB962C8B-B14F-4D97-AF65-F5344CB8AC3E}">
        <p14:creationId xmlns:p14="http://schemas.microsoft.com/office/powerpoint/2010/main" val="75224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2026-10-18T22:06:41.1410000Z</dcterms:created>
  <dcterms:modified xsi:type="dcterms:W3CDTF">2026-10-18T22:06:41.1410000Z</dcterms:modified>
</coreProperties>
</file>